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0e536a04c4a46" /><Relationship Type="http://schemas.openxmlformats.org/officeDocument/2006/relationships/extended-properties" Target="/docProps/app.xml" Id="R0b124fee374b43e4" /><Relationship Type="http://schemas.openxmlformats.org/officeDocument/2006/relationships/officeDocument" Target="/ppt/presentation.xml" Id="R5992660d696e48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8ad85ddfee4e7a"/>
  </p:sldMasterIdLst>
  <p:notesMasterIdLst>
    <p:notesMasterId xmlns:r="http://schemas.openxmlformats.org/officeDocument/2006/relationships" r:id="R99e79d821e974f37"/>
  </p:notesMasterIdLst>
  <p:sldIdLst>
    <p:sldId xmlns:r="http://schemas.openxmlformats.org/officeDocument/2006/relationships" id="256" r:id="Rd0f93b9bb37545f5"/>
    <p:sldId xmlns:r="http://schemas.openxmlformats.org/officeDocument/2006/relationships" id="257" r:id="R6b07c47ce0d54459"/>
    <p:sldId xmlns:r="http://schemas.openxmlformats.org/officeDocument/2006/relationships" id="258" r:id="Re91930a5dd7d4359"/>
    <p:sldId xmlns:r="http://schemas.openxmlformats.org/officeDocument/2006/relationships" id="259" r:id="R7d89d129ef3f4b3f"/>
    <p:sldId xmlns:r="http://schemas.openxmlformats.org/officeDocument/2006/relationships" id="260" r:id="R56501406841544f3"/>
    <p:sldId xmlns:r="http://schemas.openxmlformats.org/officeDocument/2006/relationships" id="261" r:id="R34a9b55135c5475c"/>
    <p:sldId xmlns:r="http://schemas.openxmlformats.org/officeDocument/2006/relationships" id="262" r:id="Rd54c9d0ecfc14cdc"/>
    <p:sldId xmlns:r="http://schemas.openxmlformats.org/officeDocument/2006/relationships" id="263" r:id="Rbde28537172a4d67"/>
    <p:sldId xmlns:r="http://schemas.openxmlformats.org/officeDocument/2006/relationships" id="264" r:id="Rc742fe4340d74dad"/>
    <p:sldId xmlns:r="http://schemas.openxmlformats.org/officeDocument/2006/relationships" id="265" r:id="Ra5248f5810d945ca"/>
    <p:sldId xmlns:r="http://schemas.openxmlformats.org/officeDocument/2006/relationships" id="266" r:id="R2cfcf97c365d49ba"/>
    <p:sldId xmlns:r="http://schemas.openxmlformats.org/officeDocument/2006/relationships" id="267" r:id="Rdbc4504173d54cdb"/>
    <p:sldId xmlns:r="http://schemas.openxmlformats.org/officeDocument/2006/relationships" id="268" r:id="R98e0d08bc1824a7f"/>
    <p:sldId xmlns:r="http://schemas.openxmlformats.org/officeDocument/2006/relationships" id="269" r:id="Rd70fc9f74d504537"/>
    <p:sldId xmlns:r="http://schemas.openxmlformats.org/officeDocument/2006/relationships" id="270" r:id="R9b741272f62649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87e837180e45a5" /><Relationship Type="http://schemas.openxmlformats.org/officeDocument/2006/relationships/slideMaster" Target="/ppt/slideMasters/slideMaster1.xml" Id="Rde8ad85ddfee4e7a" /><Relationship Type="http://schemas.openxmlformats.org/officeDocument/2006/relationships/notesMaster" Target="/ppt/notesMasters/notesMaster1.xml" Id="R99e79d821e974f37" /><Relationship Type="http://schemas.openxmlformats.org/officeDocument/2006/relationships/presProps" Target="/ppt/presProps.xml" Id="R4d4cfef9287f427d" /><Relationship Type="http://schemas.openxmlformats.org/officeDocument/2006/relationships/tableStyles" Target="/ppt/tableStyles.xml" Id="Rdf0529bc96764f2a" /><Relationship Type="http://schemas.openxmlformats.org/officeDocument/2006/relationships/slide" Target="/ppt/slides/slide1.xml" Id="Rd0f93b9bb37545f5" /><Relationship Type="http://schemas.openxmlformats.org/officeDocument/2006/relationships/slide" Target="/ppt/slides/slide2.xml" Id="R6b07c47ce0d54459" /><Relationship Type="http://schemas.openxmlformats.org/officeDocument/2006/relationships/slide" Target="/ppt/slides/slide3.xml" Id="Re91930a5dd7d4359" /><Relationship Type="http://schemas.openxmlformats.org/officeDocument/2006/relationships/slide" Target="/ppt/slides/slide4.xml" Id="R7d89d129ef3f4b3f" /><Relationship Type="http://schemas.openxmlformats.org/officeDocument/2006/relationships/slide" Target="/ppt/slides/slide5.xml" Id="R56501406841544f3" /><Relationship Type="http://schemas.openxmlformats.org/officeDocument/2006/relationships/slide" Target="/ppt/slides/slide6.xml" Id="R34a9b55135c5475c" /><Relationship Type="http://schemas.openxmlformats.org/officeDocument/2006/relationships/slide" Target="/ppt/slides/slide7.xml" Id="Rd54c9d0ecfc14cdc" /><Relationship Type="http://schemas.openxmlformats.org/officeDocument/2006/relationships/slide" Target="/ppt/slides/slide8.xml" Id="Rbde28537172a4d67" /><Relationship Type="http://schemas.openxmlformats.org/officeDocument/2006/relationships/slide" Target="/ppt/slides/slide9.xml" Id="Rc742fe4340d74dad" /><Relationship Type="http://schemas.openxmlformats.org/officeDocument/2006/relationships/slide" Target="/ppt/slides/slide10.xml" Id="Ra5248f5810d945ca" /><Relationship Type="http://schemas.openxmlformats.org/officeDocument/2006/relationships/slide" Target="/ppt/slides/slide11.xml" Id="R2cfcf97c365d49ba" /><Relationship Type="http://schemas.openxmlformats.org/officeDocument/2006/relationships/slide" Target="/ppt/slides/slide12.xml" Id="Rdbc4504173d54cdb" /><Relationship Type="http://schemas.openxmlformats.org/officeDocument/2006/relationships/slide" Target="/ppt/slides/slide13.xml" Id="R98e0d08bc1824a7f" /><Relationship Type="http://schemas.openxmlformats.org/officeDocument/2006/relationships/slide" Target="/ppt/slides/slide14.xml" Id="Rd70fc9f74d504537" /><Relationship Type="http://schemas.openxmlformats.org/officeDocument/2006/relationships/slide" Target="/ppt/slides/slide15.xml" Id="R9b741272f62649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606d9aab9c40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2AE00"/>
      </a:accent1>
      <a:accent2>
        <a:srgbClr val="FA9CAA"/>
      </a:accent2>
      <a:accent3>
        <a:srgbClr val="009BF9"/>
      </a:accent3>
      <a:accent4>
        <a:srgbClr val="B28836"/>
      </a:accent4>
      <a:accent5>
        <a:srgbClr val="B27C36"/>
      </a:accent5>
      <a:accent6>
        <a:srgbClr val="B25959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781686be5a435e" /><Relationship Type="http://schemas.openxmlformats.org/officeDocument/2006/relationships/notesMaster" Target="/ppt/notesMasters/notesMaster1.xml" Id="Ra8eadc7aea4048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3c68901ee04917" /><Relationship Type="http://schemas.openxmlformats.org/officeDocument/2006/relationships/notesMaster" Target="/ppt/notesMasters/notesMaster1.xml" Id="R2bc588c2069c4d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fc17a5f23e46b4" /><Relationship Type="http://schemas.openxmlformats.org/officeDocument/2006/relationships/notesMaster" Target="/ppt/notesMasters/notesMaster1.xml" Id="R072675efaf2a43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bb7be2912f4a41" /><Relationship Type="http://schemas.openxmlformats.org/officeDocument/2006/relationships/notesMaster" Target="/ppt/notesMasters/notesMaster1.xml" Id="R56fdefa3e6f74f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c51118fd4d40af" /><Relationship Type="http://schemas.openxmlformats.org/officeDocument/2006/relationships/notesMaster" Target="/ppt/notesMasters/notesMaster1.xml" Id="Raa7e7a385a5048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94710742844c6b" /><Relationship Type="http://schemas.openxmlformats.org/officeDocument/2006/relationships/notesMaster" Target="/ppt/notesMasters/notesMaster1.xml" Id="R6f3e7c06e8c14d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16b5f8c63f4370" /><Relationship Type="http://schemas.openxmlformats.org/officeDocument/2006/relationships/notesMaster" Target="/ppt/notesMasters/notesMaster1.xml" Id="Rc84d18d9aaad47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e46f1a0d184b59" /><Relationship Type="http://schemas.openxmlformats.org/officeDocument/2006/relationships/notesMaster" Target="/ppt/notesMasters/notesMaster1.xml" Id="R93dddf28c99d4a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5910ce825e49ce" /><Relationship Type="http://schemas.openxmlformats.org/officeDocument/2006/relationships/notesMaster" Target="/ppt/notesMasters/notesMaster1.xml" Id="R66258487e36846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56e2af12384075" /><Relationship Type="http://schemas.openxmlformats.org/officeDocument/2006/relationships/notesMaster" Target="/ppt/notesMasters/notesMaster1.xml" Id="Re8490595227043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e23917e3b44c6c" /><Relationship Type="http://schemas.openxmlformats.org/officeDocument/2006/relationships/notesMaster" Target="/ppt/notesMasters/notesMaster1.xml" Id="R98e2d99eb8994c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b26e77007549d6" /><Relationship Type="http://schemas.openxmlformats.org/officeDocument/2006/relationships/notesMaster" Target="/ppt/notesMasters/notesMaster1.xml" Id="R8eb18325dabc47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daa9ae76134193" /><Relationship Type="http://schemas.openxmlformats.org/officeDocument/2006/relationships/notesMaster" Target="/ppt/notesMasters/notesMaster1.xml" Id="R2b40cfd84f4944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1d3b40f231492b" /><Relationship Type="http://schemas.openxmlformats.org/officeDocument/2006/relationships/notesMaster" Target="/ppt/notesMasters/notesMaster1.xml" Id="R25e4a7cf2e2b42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923ae6e60e4167" /><Relationship Type="http://schemas.openxmlformats.org/officeDocument/2006/relationships/notesMaster" Target="/ppt/notesMasters/notesMaster1.xml" Id="Rd9fdd31f740242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1eecf51ad40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c87cfaadb4a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fffc5c89b4a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dea49234f47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56bf2d55147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79d59835740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8cea4c8364277" /></Relationships>
</file>

<file path=ppt/slideLayouts/slideLayout1.xml><?xml version="1.0" encoding="utf-8"?>
<p:sldLayout xmlns:p="http://schemas.openxmlformats.org/presentationml/2006/main" showMasterSp="0" type="title" preserve="1">
  <p:cSld name="Title Slide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7FE5CC9F-23B5-44E0-926F-B8219F01496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438648" y="1130299"/>
            <a:ext cx="7299860" cy="24952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Click to add title</a:t>
            </a:r>
          </a:p>
        </p:txBody>
      </p:sp>
      <p:sp>
        <p:nvSpPr>
          <p:cNvPr id="9" name="副标题 8">
            <a:extLst xmlns:a="http://schemas.openxmlformats.org/drawingml/2006/main">
              <a:ext uri="{FF2B5EF4-FFF2-40B4-BE49-F238E27FC236}">
                <a16:creationId xmlns:a16="http://schemas.microsoft.com/office/drawing/2014/main" id="{C2FC2F79-004D-40F5-9DC2-CFC4115384E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438648" y="3708281"/>
            <a:ext cx="7299860" cy="67536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t>Click to add subtitle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7D68E8E-84D2-448E-BE94-0314725F61A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446070" y="5382182"/>
            <a:ext cx="7299860" cy="3455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000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Presenter name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800B215E-EE53-4E5F-B0DD-57B8538C91C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438648" y="4931718"/>
            <a:ext cx="7299860" cy="3455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20XX.XX.XX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40960A-D16C-449E-949B-CD6BE5C839C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Click to add title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FD395CD-4215-492A-9BE2-C4D420AAA2A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D31988-43DE-4DC3-B98D-614EC1BA6F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2C797F4-22CA-449E-BDE0-BC1B332D6C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E25FB6D-5EA2-48FD-BC96-D5866783E5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C8B2A69E-A1E3-4115-8283-C0FF97F0221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12800" y="1308100"/>
            <a:ext cx="1922161" cy="864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r">
              <a:buNone/>
              <a:defRPr sz="2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Agenda</a:t>
            </a:r>
          </a:p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10BABAC7-B901-49BE-9DCE-4519D36799E5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983077" y="1308100"/>
            <a:ext cx="7987901" cy="4546922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lnSpc>
                <a:spcPct val="100000"/>
              </a:lnSpc>
              <a:buAutoNum type="arabicPeriod"/>
              <a:defRPr/>
            </a:lvl1pPr>
            <a:lvl2pPr marL="800100" indent="-342900">
              <a:lnSpc>
                <a:spcPct val="100000"/>
              </a:lnSpc>
              <a:buAutoNum type="circleNumDbPlain"/>
              <a:defRPr/>
            </a:lvl2pPr>
            <a:lvl3pPr marL="1257300" indent="-342900">
              <a:lnSpc>
                <a:spcPct val="100000"/>
              </a:lnSpc>
              <a:buAutoNum type="alphaLcParenR"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3" name="日期占位符 12">
            <a:extLst xmlns:a="http://schemas.openxmlformats.org/drawingml/2006/main">
              <a:ext uri="{FF2B5EF4-FFF2-40B4-BE49-F238E27FC236}">
                <a16:creationId xmlns:a16="http://schemas.microsoft.com/office/drawing/2014/main" id="{1BD2A56F-9419-4957-B2D4-003CD73E19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页脚占位符 13">
            <a:extLst xmlns:a="http://schemas.openxmlformats.org/drawingml/2006/main">
              <a:ext uri="{FF2B5EF4-FFF2-40B4-BE49-F238E27FC236}">
                <a16:creationId xmlns:a16="http://schemas.microsoft.com/office/drawing/2014/main" id="{DCEA9F18-68D4-40B1-AC63-CD2FDA321D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18D4553A-4B9F-4E3F-9985-DF06D6B9D6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cxnSp>
        <p:nvCxnSpPr>
          <p:cNvPr id="16" name="直接连接符 10"/>
          <p:cNvCxnSpPr/>
          <p:nvPr/>
        </p:nvCxnSpPr>
        <p:spPr>
          <a:xfrm xmlns:a="http://schemas.openxmlformats.org/drawingml/2006/main">
            <a:off x="2846319" y="1605285"/>
            <a:ext cx="0" cy="4071937"/>
          </a:xfrm>
          <a:prstGeom xmlns:a="http://schemas.openxmlformats.org/drawingml/2006/main" prst="line">
            <a:avLst/>
          </a:prstGeom>
          <a:ln xmlns:a="http://schemas.openxmlformats.org/drawingml/2006/main" w="3175" cap="flat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A87B778C-E26E-4E62-980D-D970A9C6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756" y="4761555"/>
            <a:ext cx="870506" cy="915667"/>
          </a:xfrm>
          <a:custGeom xmlns:a="http://schemas.openxmlformats.org/drawingml/2006/main"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 xmlns:a="http://schemas.openxmlformats.org/drawingml/2006/main">
            <a:schemeClr val="tx2">
              <a:alpha val="1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showMasterSp="0" type="secHead" preserve="1">
  <p:cSld name="Section Header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FF91DB5E-2C50-4038-9A25-AF26BACD17B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38500" y="1868094"/>
            <a:ext cx="5702300" cy="1479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4000"/>
            </a:lvl1pPr>
          </a:lstStyle>
          <a:p xmlns:a="http://schemas.openxmlformats.org/drawingml/2006/main">
            <a:pPr>
              <a:buNone/>
            </a:pPr>
            <a:r>
              <a:t>Click to add title</a:t>
            </a:r>
          </a:p>
        </p:txBody>
      </p:sp>
      <p:sp>
        <p:nvSpPr>
          <p:cNvPr id="25" name="文本占位符 24">
            <a:extLst xmlns:a="http://schemas.openxmlformats.org/drawingml/2006/main">
              <a:ext uri="{FF2B5EF4-FFF2-40B4-BE49-F238E27FC236}">
                <a16:creationId xmlns:a16="http://schemas.microsoft.com/office/drawing/2014/main" id="{90AA123A-A942-4A8E-90A9-C8359FB9BE8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238500" y="3476421"/>
            <a:ext cx="5702300" cy="11049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lnSpc>
                <a:spcPct val="120000"/>
              </a:lnSpc>
              <a:buNone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9744BF9-10A4-4221-9610-3CD90901C3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0A26074-7DC9-4E61-889E-D8DBC727B7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iSlide</a:t>
            </a:r>
          </a:p>
        </p:txBody>
      </p:sp>
      <p:sp>
        <p:nvSpPr>
          <p:cNvPr id="8" name="灯片编号占位符 7">
            <a:extLst xmlns:a="http://schemas.openxmlformats.org/drawingml/2006/main">
              <a:ext uri="{FF2B5EF4-FFF2-40B4-BE49-F238E27FC236}">
                <a16:creationId xmlns:a16="http://schemas.microsoft.com/office/drawing/2014/main" id="{47B565F7-FADD-48FF-BC17-4E8FB5C861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2F8DDC-9EBA-472F-AF7F-74D01354039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Click to add title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72B424D-A849-4C08-A92B-44D480935B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BED1BAD-C53A-443F-B611-173B6E1272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4184D4B-B64C-4661-AEF1-4642449D48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8F79204-F171-4810-B048-80AE425E74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8DE782B-53A9-4168-A30C-DC30464973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A88EFA2-1A7F-40D9-8924-2A23924847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showMasterSp="0" matchingName="Closing" preserve="1">
  <p:cSld name="Closing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E73DAA7A-BB75-4636-8658-65C43074793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765797" y="1423066"/>
            <a:ext cx="6640284" cy="23028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Click to add title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D92C9AA-E0BD-4CC7-B2BC-DCC4B32735D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773219" y="5089416"/>
            <a:ext cx="6640284" cy="3455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000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Presenter name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F8CB944A-6CD7-47C3-8E4F-65863A7F69C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765797" y="4638952"/>
            <a:ext cx="6640284" cy="3455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20XX.XX.XX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a47d35d4264f99" /><Relationship Type="http://schemas.openxmlformats.org/officeDocument/2006/relationships/slideLayout" Target="/ppt/slideLayouts/slideLayout1.xml" Id="R3939a24f9843435c" /><Relationship Type="http://schemas.openxmlformats.org/officeDocument/2006/relationships/slideLayout" Target="/ppt/slideLayouts/slideLayout2.xml" Id="R01c86e8fa8d7466c" /><Relationship Type="http://schemas.openxmlformats.org/officeDocument/2006/relationships/slideLayout" Target="/ppt/slideLayouts/slideLayout3.xml" Id="R082a537af2734bfb" /><Relationship Type="http://schemas.openxmlformats.org/officeDocument/2006/relationships/slideLayout" Target="/ppt/slideLayouts/slideLayout4.xml" Id="R0c1c9e84b4e84d6f" /><Relationship Type="http://schemas.openxmlformats.org/officeDocument/2006/relationships/slideLayout" Target="/ppt/slideLayouts/slideLayout5.xml" Id="R296116c7af084a45" /><Relationship Type="http://schemas.openxmlformats.org/officeDocument/2006/relationships/slideLayout" Target="/ppt/slideLayouts/slideLayout6.xml" Id="R04455c7d87f74185" /><Relationship Type="http://schemas.openxmlformats.org/officeDocument/2006/relationships/slideLayout" Target="/ppt/slideLayouts/slideLayout7.xml" Id="R8ba2138c169b431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6D88296-0C29-4C67-8751-53F2FE39D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0400" y="128587"/>
            <a:ext cx="10858500" cy="900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add title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53F14D0-7B2B-4228-A98C-E9DF349F80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0400" y="1130300"/>
            <a:ext cx="10858500" cy="500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A859F16-AAB6-4215-A21A-52514E9FF63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718050" y="6409690"/>
            <a:ext cx="2743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0F117F4-0400-4ADE-9D98-839730CA09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60399" y="640969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A4EDA6-21B0-4926-B8B7-86AED1284DB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861300" y="640969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39a24f9843435c"/>
    <p:sldLayoutId xmlns:r="http://schemas.openxmlformats.org/officeDocument/2006/relationships" id="2147483650" r:id="R01c86e8fa8d7466c"/>
    <p:sldLayoutId xmlns:r="http://schemas.openxmlformats.org/officeDocument/2006/relationships" id="2147483651" r:id="R082a537af2734bfb"/>
    <p:sldLayoutId xmlns:r="http://schemas.openxmlformats.org/officeDocument/2006/relationships" id="2147483652" r:id="R0c1c9e84b4e84d6f"/>
    <p:sldLayoutId xmlns:r="http://schemas.openxmlformats.org/officeDocument/2006/relationships" id="2147483653" r:id="R296116c7af084a45"/>
    <p:sldLayoutId xmlns:r="http://schemas.openxmlformats.org/officeDocument/2006/relationships" id="2147483654" r:id="R04455c7d87f74185"/>
    <p:sldLayoutId xmlns:r="http://schemas.openxmlformats.org/officeDocument/2006/relationships" id="2147483655" r:id="R8ba2138c169b4316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2800" b="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20000"/>
        </a:lnSpc>
        <a:spcBef>
          <a:spcPts val="10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120000"/>
        </a:lnSpc>
        <a:spcBef>
          <a:spcPts val="5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120000"/>
        </a:lnSpc>
        <a:spcBef>
          <a:spcPts val="500"/>
        </a:spcBef>
        <a:buChar char="•"/>
        <a:defRPr sz="1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120000"/>
        </a:lnSpc>
        <a:spcBef>
          <a:spcPts val="500"/>
        </a:spcBef>
        <a:buChar char="•"/>
        <a:defRPr sz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120000"/>
        </a:lnSpc>
        <a:spcBef>
          <a:spcPts val="500"/>
        </a:spcBef>
        <a:buChar char="•"/>
        <a:defRPr sz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2AE00"/>
      </a:accent1>
      <a:accent2>
        <a:srgbClr val="FA9CAA"/>
      </a:accent2>
      <a:accent3>
        <a:srgbClr val="009BF9"/>
      </a:accent3>
      <a:accent4>
        <a:srgbClr val="B28836"/>
      </a:accent4>
      <a:accent5>
        <a:srgbClr val="B27C36"/>
      </a:accent5>
      <a:accent6>
        <a:srgbClr val="B25959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d9109db034be5" /><Relationship Type="http://schemas.openxmlformats.org/officeDocument/2006/relationships/image" Target="/ppt/media/image.png" Id="Rc365214d7b0a407d" /><Relationship Type="http://schemas.openxmlformats.org/officeDocument/2006/relationships/image" Target="/ppt/media/image.jpeg" Id="Rafa0cb59fa8d44c8" /><Relationship Type="http://schemas.openxmlformats.org/officeDocument/2006/relationships/notesSlide" Target="/ppt/notesSlides/notesSlide1.xml" Id="R42372d50e1184c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3e71a087b394a4d" /><Relationship Type="http://schemas.openxmlformats.org/officeDocument/2006/relationships/image" Target="/ppt/media/image.png" Id="R1abafa3ff3644ee3" /><Relationship Type="http://schemas.openxmlformats.org/officeDocument/2006/relationships/image" Target="/ppt/media/image.jpeg" Id="Rf0c14dff93854ad9" /><Relationship Type="http://schemas.openxmlformats.org/officeDocument/2006/relationships/notesSlide" Target="/ppt/notesSlides/notesSlide2.xml" Id="Rb875df7422ec43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f4f2a714a2a4de1" /><Relationship Type="http://schemas.openxmlformats.org/officeDocument/2006/relationships/image" Target="/ppt/media/image.png" Id="R9db02adff3734c2e" /><Relationship Type="http://schemas.openxmlformats.org/officeDocument/2006/relationships/image" Target="/ppt/media/image.jpeg" Id="Re8df92153c034095" /><Relationship Type="http://schemas.openxmlformats.org/officeDocument/2006/relationships/notesSlide" Target="/ppt/notesSlides/notesSlide3.xml" Id="R7b80b5512c5f43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aa14f272fd34b0d" /><Relationship Type="http://schemas.openxmlformats.org/officeDocument/2006/relationships/image" Target="/ppt/media/image.png" Id="R434d2e1c63714aef" /><Relationship Type="http://schemas.openxmlformats.org/officeDocument/2006/relationships/image" Target="/ppt/media/image.jpeg" Id="R2d6397e3c16b42f1" /><Relationship Type="http://schemas.openxmlformats.org/officeDocument/2006/relationships/notesSlide" Target="/ppt/notesSlides/notesSlide4.xml" Id="Rc8951138b46340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81f06b0cd9e4d9b" /><Relationship Type="http://schemas.openxmlformats.org/officeDocument/2006/relationships/image" Target="/ppt/media/image.png" Id="Rcb91aec50ffd40f3" /><Relationship Type="http://schemas.openxmlformats.org/officeDocument/2006/relationships/image" Target="/ppt/media/image.jpeg" Id="R549ba369d92e4f61" /><Relationship Type="http://schemas.openxmlformats.org/officeDocument/2006/relationships/notesSlide" Target="/ppt/notesSlides/notesSlide5.xml" Id="Rf1310e9aea8a40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2bc52c072cf471d" /><Relationship Type="http://schemas.openxmlformats.org/officeDocument/2006/relationships/image" Target="/ppt/media/image.png" Id="Rc92829f69b564d08" /><Relationship Type="http://schemas.openxmlformats.org/officeDocument/2006/relationships/image" Target="/ppt/media/image.jpeg" Id="R6393dad70a93402b" /><Relationship Type="http://schemas.openxmlformats.org/officeDocument/2006/relationships/notesSlide" Target="/ppt/notesSlides/notesSlide6.xml" Id="Re27129de48fa44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a813c1ba6a64967" /><Relationship Type="http://schemas.openxmlformats.org/officeDocument/2006/relationships/image" Target="/ppt/media/image.png" Id="Rbbe3a226a6ee4371" /><Relationship Type="http://schemas.openxmlformats.org/officeDocument/2006/relationships/image" Target="/ppt/media/image.jpeg" Id="R11b1cd1cd4f8471e" /><Relationship Type="http://schemas.openxmlformats.org/officeDocument/2006/relationships/notesSlide" Target="/ppt/notesSlides/notesSlide7.xml" Id="R80dc94c3911342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ae4eeda6cec4fdc" /><Relationship Type="http://schemas.openxmlformats.org/officeDocument/2006/relationships/image" Target="/ppt/media/image.png" Id="R4cf68d3882564139" /><Relationship Type="http://schemas.openxmlformats.org/officeDocument/2006/relationships/image" Target="/ppt/media/image.jpeg" Id="R53ec71e1c8504f90" /><Relationship Type="http://schemas.openxmlformats.org/officeDocument/2006/relationships/notesSlide" Target="/ppt/notesSlides/notesSlide8.xml" Id="Rf54ba54601e24f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b310a48204485c" /><Relationship Type="http://schemas.openxmlformats.org/officeDocument/2006/relationships/image" Target="/ppt/media/image.png" Id="Rf1564de158eb48d8" /><Relationship Type="http://schemas.openxmlformats.org/officeDocument/2006/relationships/image" Target="/ppt/media/image.jpeg" Id="R95be4f9ece734a33" /><Relationship Type="http://schemas.openxmlformats.org/officeDocument/2006/relationships/notesSlide" Target="/ppt/notesSlides/notesSlide9.xml" Id="Rc14f65b8c3654d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1dbb924acab4b81" /><Relationship Type="http://schemas.openxmlformats.org/officeDocument/2006/relationships/image" Target="/ppt/media/image.png" Id="Rd01a053f2779490d" /><Relationship Type="http://schemas.openxmlformats.org/officeDocument/2006/relationships/image" Target="/ppt/media/image.jpeg" Id="Rc1b2c66d8de94f1a" /><Relationship Type="http://schemas.openxmlformats.org/officeDocument/2006/relationships/notesSlide" Target="/ppt/notesSlides/notesSlide10.xml" Id="R034329d72b8043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21c8c6366004c18" /><Relationship Type="http://schemas.openxmlformats.org/officeDocument/2006/relationships/image" Target="/ppt/media/image.png" Id="Rb401363a84844e5b" /><Relationship Type="http://schemas.openxmlformats.org/officeDocument/2006/relationships/image" Target="/ppt/media/image.jpeg" Id="R92a031017d8a4e1c" /><Relationship Type="http://schemas.openxmlformats.org/officeDocument/2006/relationships/notesSlide" Target="/ppt/notesSlides/notesSlide11.xml" Id="Rd84b5a2a94bb47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4ca8358272549ed" /><Relationship Type="http://schemas.openxmlformats.org/officeDocument/2006/relationships/image" Target="/ppt/media/image.png" Id="R6f9cebf1940b48de" /><Relationship Type="http://schemas.openxmlformats.org/officeDocument/2006/relationships/image" Target="/ppt/media/image.jpeg" Id="R033d1007c859473d" /><Relationship Type="http://schemas.openxmlformats.org/officeDocument/2006/relationships/notesSlide" Target="/ppt/notesSlides/notesSlide12.xml" Id="R8e3ddbab5f9848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d7e9fa5dabe402e" /><Relationship Type="http://schemas.openxmlformats.org/officeDocument/2006/relationships/image" Target="/ppt/media/image.png" Id="R28bca57e59074bc8" /><Relationship Type="http://schemas.openxmlformats.org/officeDocument/2006/relationships/image" Target="/ppt/media/image.jpeg" Id="Raed3ee4488d842b4" /><Relationship Type="http://schemas.openxmlformats.org/officeDocument/2006/relationships/notesSlide" Target="/ppt/notesSlides/notesSlide13.xml" Id="Rac489bf54d5e44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708d21575eb46d8" /><Relationship Type="http://schemas.openxmlformats.org/officeDocument/2006/relationships/image" Target="/ppt/media/image.png" Id="R9a9c407835094ec6" /><Relationship Type="http://schemas.openxmlformats.org/officeDocument/2006/relationships/image" Target="/ppt/media/image.jpeg" Id="Rd66b7c73cd274290" /><Relationship Type="http://schemas.openxmlformats.org/officeDocument/2006/relationships/notesSlide" Target="/ppt/notesSlides/notesSlide14.xml" Id="R0ef27b8821dd4d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a0cdc1a77b4736" /><Relationship Type="http://schemas.openxmlformats.org/officeDocument/2006/relationships/image" Target="/ppt/media/image.png" Id="Rf1b251b58bde4d85" /><Relationship Type="http://schemas.openxmlformats.org/officeDocument/2006/relationships/image" Target="/ppt/media/image.jpeg" Id="Rceb9b3f0fc3340fe" /><Relationship Type="http://schemas.openxmlformats.org/officeDocument/2006/relationships/notesSlide" Target="/ppt/notesSlides/notesSlide15.xml" Id="Ra8ac122e613640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3EF712BE-A663-433F-849F-EDFA787CEE4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CreatorPulse：达人粉丝增长分析与智能创作建议平台</a:t>
            </a:r>
          </a:p>
        </p:txBody>
      </p:sp>
      <p:sp>
        <p:nvSpPr>
          <p:cNvPr id="9" name="副标题 8">
            <a:extLst xmlns:a="http://schemas.openxmlformats.org/drawingml/2006/main">
              <a:ext uri="{FF2B5EF4-FFF2-40B4-BE49-F238E27FC236}">
                <a16:creationId xmlns:a16="http://schemas.microsoft.com/office/drawing/2014/main" id="{8B25B5CB-A9CD-40EA-8537-2E8913AA4E5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基于大数据的内容创作者增长分析与创作建议平台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5BCC2B2-90B6-484B-9F35-C63B1665C6E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t>智人</a:t>
            </a:r>
            <a:r>
              <a:t>TV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D54F5364-29F5-4B18-9345-96377F5A6F7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2026/06/21</a:t>
            </a:r>
          </a:p>
        </p:txBody>
      </p:sp>
      <p:pic>
        <p:nvPicPr>
          <p:cNvPr id="1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5214d7b0a40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17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0cb59fa8d44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1100" y="10160"/>
            <a:ext cx="1129665" cy="11709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068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49F53552-BEC5-4130-87D2-75C881C16ED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98165" y="1788795"/>
            <a:ext cx="5702300" cy="147891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项目团队介绍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6A2C38-8390-420D-9DE3-727A82DB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740" y="3261995"/>
            <a:ext cx="3612515" cy="494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跨学科协作，构建高效研发体系</a:t>
            </a:r>
          </a:p>
        </p:txBody>
      </p:sp>
      <p:pic>
        <p:nvPicPr>
          <p:cNvPr id="10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afa3ff3644e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14dff93854a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23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标题 156">
            <a:extLst xmlns:a="http://schemas.openxmlformats.org/drawingml/2006/main">
              <a:ext uri="{FF2B5EF4-FFF2-40B4-BE49-F238E27FC236}">
                <a16:creationId xmlns:a16="http://schemas.microsoft.com/office/drawing/2014/main" id="{D413947B-AFE8-40C9-A34F-7AA19E979A2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2"/>
                </a:solidFill>
              </a:rPr>
              <a:t>团队成员与分工</a:t>
            </a:r>
          </a:p>
        </p:txBody>
      </p:sp>
      <p:pic>
        <p:nvPicPr>
          <p:cNvPr id="161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02adff3734c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162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f92153c034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43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d2e1c63714a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39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397e3c16b42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00ABD-9E58-45A0-946F-B6A915FB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AD"/>
                </a:solidFill>
              </a:defRPr>
            </a:pPr>
            <a:r>
              <a:rPr sz="2850" b="1">
                <a:solidFill>
                  <a:srgbClr val="FF9AAD"/>
                </a:solidFill>
              </a:rPr>
              <a:t>项目介绍：用户痛点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0391CC-C293-4F14-9084-4197062B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内容创作者面对多平台运营时，最难的是把数据变成下一步行动。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3E2377-4698-4B30-BC65-0EDD4FDE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621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7D457D-4244-4C88-950A-2160D3CC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平台数据分散：抖音、B站、小红书等后台割裂，无法统一判断整体增长。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93C45D-1224-4983-B133-A0DB455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52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9D0CFB-CC0D-43D1-ACAB-F3F7EACF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播放量难解释增长：高播放不一定带来关注，需要看转粉率和互动质量。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5C845A-9F8A-47A5-9336-C57178B0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43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295236-6109-4030-8CB0-49704257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575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复盘缺少依据：不知道哪些视频真正带来粉丝，下一条内容仍依赖经验。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031AE-1621-45EB-A91E-A1C977AD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C542E5-D39A-4647-9233-9039323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创作建议不够具体：选题、发布时间、平台侧重缺少可解释的数据支撑。</a:t>
            </a:r>
          </a:p>
        </p:txBody>
      </p:sp>
    </p:spTree>
    <p:extLst>
      <p:ext uri="{BB962C8B-B14F-4D97-AF65-F5344CB8AC3E}">
        <p14:creationId xmlns:p14="http://schemas.microsoft.com/office/powerpoint/2010/main" val="10532447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1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1aec50ffd40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92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ba369d92e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98EA878-86D7-4FF8-AD53-786D44F8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AD"/>
                </a:solidFill>
              </a:defRPr>
            </a:pPr>
            <a:r>
              <a:rPr sz="2850" b="1">
                <a:solidFill>
                  <a:srgbClr val="FF9AAD"/>
                </a:solidFill>
              </a:rPr>
              <a:t>项目介绍：我们做了什么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9461C0-A500-4CD1-A37E-611D1A51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CreatorPulse 将跨平台数据聚合、增长分析和创作建议放到一个工作台。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2B87DE-084D-4A8E-B461-31A18766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002C15-3326-442D-AE65-06CC3EAB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5D9"/>
                </a:solidFill>
              </a:defRPr>
            </a:pPr>
            <a:r>
              <a:rPr sz="2100" b="1">
                <a:solidFill>
                  <a:srgbClr val="2F65D9"/>
                </a:solidFill>
              </a:rPr>
              <a:t>核心思路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D44F64-9793-4C49-8235-AEEAF2A1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838D042-D0D8-4345-BC97-82A9FF89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统一采集多平台数据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E35624-9769-4B45-B725-81B8A505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B45960E-5752-4781-9B05-BAB115D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用指标解释粉丝增长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4A9DD3F-B998-472B-BABC-B71A2C0C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F09FDC6-F655-47AC-B511-F93078CA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把分析结果转成创作建议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0A9BE14-165E-4882-82C2-06EB876C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9DC4B26-3798-482D-9D3C-AE957A69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前端页面直接展示结论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222F3F9-9547-41F2-9333-43DEAE77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7E82D4-0BE7-49E8-9226-066845FD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86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9B9E"/>
                </a:solidFill>
              </a:defRPr>
            </a:pPr>
            <a:r>
              <a:rPr sz="2100" b="1">
                <a:solidFill>
                  <a:srgbClr val="149B9E"/>
                </a:solidFill>
              </a:rPr>
              <a:t>当前实现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0F95C31-9077-465F-B444-28D5931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1FF5E3-9EB9-4943-883B-C9C6129E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765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Vue + Flask 可运行 MVP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A497913-099D-4311-8B41-A73E909E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50302B6-AE00-4DA6-B441-23FA0DC2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mock / MySQL 双数据源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6784FA6-C0F2-481A-A72C-65965DCF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109A49A-3AA6-4AB6-B0D5-15653670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81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Kafka / Spark dry-run 链路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89200B-0608-4938-B981-FA1E322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94850E-C2D5-4193-BDA9-9DEF036C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33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OpenAPI 与预检脚本</a:t>
            </a:r>
          </a:p>
        </p:txBody>
      </p:sp>
    </p:spTree>
    <p:extLst>
      <p:ext uri="{BB962C8B-B14F-4D97-AF65-F5344CB8AC3E}">
        <p14:creationId xmlns:p14="http://schemas.microsoft.com/office/powerpoint/2010/main" val="1434778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02752A5E-F8A0-48AE-B130-EDB3C381B9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项目架构</a:t>
            </a:r>
          </a:p>
        </p:txBody>
      </p:sp>
      <p:sp>
        <p:nvSpPr>
          <p:cNvPr id="25" name="文本占位符 24">
            <a:extLst xmlns:a="http://schemas.openxmlformats.org/drawingml/2006/main">
              <a:ext uri="{FF2B5EF4-FFF2-40B4-BE49-F238E27FC236}">
                <a16:creationId xmlns:a16="http://schemas.microsoft.com/office/drawing/2014/main" id="{240383A3-FDD1-48B5-8F9A-72479651619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前端展示、后端接口、数据存储和大数据链路分层解耦</a:t>
            </a:r>
          </a:p>
        </p:txBody>
      </p:sp>
      <p:pic>
        <p:nvPicPr>
          <p:cNvPr id="3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829f69b56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31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3dad70a9340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3489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3a226a6ee43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7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1cd1cd4f847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208F15-3D27-45A6-951E-4AE006AF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AD"/>
                </a:solidFill>
              </a:defRPr>
            </a:pPr>
            <a:r>
              <a:rPr sz="2850" b="1">
                <a:solidFill>
                  <a:srgbClr val="FF9AAD"/>
                </a:solidFill>
              </a:rPr>
              <a:t>项目架构：整体链路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836463-7F90-4C70-ABA8-DA812768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Flask 和 Vue 只读取 API / MySQL，大数据链路可以独立启动和排查。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EC0DE3-1D9C-4807-A4FB-06A13DBD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381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36C7BE-1FD9-4FE0-9DDA-26117337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5D9"/>
                </a:solidFill>
              </a:defRPr>
            </a:pPr>
            <a:r>
              <a:rPr sz="1425" b="1">
                <a:solidFill>
                  <a:srgbClr val="2F65D9"/>
                </a:solidFill>
              </a:rPr>
              <a:t>Vue 前端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67DB06-EAF3-411D-93BD-59B8E55F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15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页面展示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4E3521-490F-49BE-BD00-4D5B0D5D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004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A8A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B95C95-F613-43BB-931B-1BBE4047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81300"/>
            <a:ext cx="1381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7BF1EF-3E02-4E0B-945B-AE3C7AFD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9B9E"/>
                </a:solidFill>
              </a:defRPr>
            </a:pPr>
            <a:r>
              <a:rPr sz="1425" b="1">
                <a:solidFill>
                  <a:srgbClr val="149B9E"/>
                </a:solidFill>
              </a:rPr>
              <a:t>Flask API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339000-1DB9-4D82-ABBF-7128E42C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57550"/>
            <a:ext cx="115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接口服务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7F9D02-0AB5-47AF-9A84-A5DF8CE4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04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A8A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A85592-0984-4CA3-B3CF-0B595734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1381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9B36CA-9745-4BAC-A947-5604454E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A66A"/>
                </a:solidFill>
              </a:defRPr>
            </a:pPr>
            <a:r>
              <a:rPr sz="1425" b="1">
                <a:solidFill>
                  <a:srgbClr val="20A66A"/>
                </a:solidFill>
              </a:rPr>
              <a:t>MySQL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5BA445-AD6F-4F92-ADF3-16E61EC7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57550"/>
            <a:ext cx="115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指标存储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689D4E-C79E-4087-8CBF-89028FEE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A8A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0E902F-4EDC-41E9-8787-614E6B3C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1381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6813A9-80FB-4DD2-B5E3-4265F3A3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Flume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CA5DCB-E50B-4E43-A621-E6B892F1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115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数据采集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B3CA77-2905-4AE5-A61B-1E28D1BD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004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A8A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EE05D8-416E-42B5-8741-37DE8C04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1381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167374-7CDF-44F4-94AF-3306D4C5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Kafka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DFD479-190C-4F3A-AC1F-E13F7D2A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115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消息队列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4FF91C-6A0E-4AC6-9A35-A8715435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A8A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457BFD-A322-477F-AFA1-92C80157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81300"/>
            <a:ext cx="1381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6977B7-2A90-4E04-9D4C-F56932C3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A66A"/>
                </a:solidFill>
              </a:defRPr>
            </a:pPr>
            <a:r>
              <a:rPr sz="1425" b="1">
                <a:solidFill>
                  <a:srgbClr val="20A66A"/>
                </a:solidFill>
              </a:rPr>
              <a:t>Spark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99E189E-4F83-4CE2-9350-6AD5C24D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57550"/>
            <a:ext cx="115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聚合计算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07758A-3A4B-42F1-982D-8D6FE78F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62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1C8EF7-B790-4BB3-9AA7-B429278A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演示主线：Vue -&gt; Flask API -&gt; mock JSON / MySQL。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106936-02A5-48A6-BBBD-5A66DED4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815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EAE185F-59EF-428D-BBFF-1A962E1B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958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大数据链路：mock_generator -&gt; Flume -&gt; Kafka -&gt; Spark Streaming -&gt; MySQL。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CFF3D13-E8E8-4A58-9BE2-0A04418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006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080C9CF-5A79-4085-AAD1-8810D087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149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好处：前端、后端、数据处理可以分开开发、验证和排查。</a:t>
            </a:r>
          </a:p>
        </p:txBody>
      </p:sp>
    </p:spTree>
    <p:extLst>
      <p:ext uri="{BB962C8B-B14F-4D97-AF65-F5344CB8AC3E}">
        <p14:creationId xmlns:p14="http://schemas.microsoft.com/office/powerpoint/2010/main" val="748803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68d3882564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6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c71e1c8504f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F3703D-3B3B-46CF-A258-34CA9D17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AD"/>
                </a:solidFill>
              </a:defRPr>
            </a:pPr>
            <a:r>
              <a:rPr sz="2850" b="1">
                <a:solidFill>
                  <a:srgbClr val="FF9AAD"/>
                </a:solidFill>
              </a:rPr>
              <a:t>详细介绍：平台有哪些功能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415691-8D27-422D-B0D9-C2B26BDE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平台围绕“看增长、找原因、给建议”设计 6 个核心页面。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FA4A7-EF60-4762-B5E4-50882712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952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34702-28F6-4389-8EF0-22883126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03EAF-C889-4436-A5F9-38381832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9C76F0-3DA9-4B69-89A0-9A02EB1E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33333"/>
                </a:solidFill>
              </a:defRPr>
            </a:pPr>
            <a:r>
              <a:rPr sz="1725" b="1">
                <a:solidFill>
                  <a:srgbClr val="333333"/>
                </a:solidFill>
              </a:rPr>
              <a:t>增长总览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FF7B42-A3AA-44F5-B197-0AB0D856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账号健康度、粉丝趋势、转化漏斗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780D25-41E8-4A10-8B3B-3F6ACBD5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85950"/>
            <a:ext cx="2952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1B6183-DBA8-40C9-8685-BE49803F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1E47A4-5B9F-4166-BBAE-DD5AC205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098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7E8155-F931-4C21-B1C4-F0535870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14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33333"/>
                </a:solidFill>
              </a:defRPr>
            </a:pPr>
            <a:r>
              <a:rPr sz="1725" b="1">
                <a:solidFill>
                  <a:srgbClr val="333333"/>
                </a:solidFill>
              </a:rPr>
              <a:t>粉丝分析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8C5C69-91E4-4CA3-8F55-10B76F6B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955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新增/掉粉、画像、粘性行为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CDD292-CA75-43F7-84ED-061EF31B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2952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E19563-C961-48D7-B283-0B32DF60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2B203F-BF38-4833-9026-A41802DF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63BE34-5024-4165-A638-75385F4C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33333"/>
                </a:solidFill>
              </a:defRPr>
            </a:pPr>
            <a:r>
              <a:rPr sz="1725" b="1">
                <a:solidFill>
                  <a:srgbClr val="333333"/>
                </a:solidFill>
              </a:rPr>
              <a:t>视频分析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A0AEC2-5546-4EEF-A865-EF14708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视频表现、转粉贡献、完播率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5A49C7-63B4-4842-BBA2-753C9C03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952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D2E16B-5733-4C03-A908-09CBA98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827D2A-2565-4855-BBDF-4126D2C7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DB4754-593B-4359-810A-FA4A817B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33333"/>
                </a:solidFill>
              </a:defRPr>
            </a:pPr>
            <a:r>
              <a:rPr sz="1725" b="1">
                <a:solidFill>
                  <a:srgbClr val="333333"/>
                </a:solidFill>
              </a:rPr>
              <a:t>内容分布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6D0D80-9613-48F3-8BE0-4A5FFBC2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平台、类型、发布时间分布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B3A4CC-11E1-4059-8C0D-2B92D2A7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2952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C86FBC-B59C-4328-BCEB-318345B6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19CFA5-7925-46DC-A4D1-874EA2F7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829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358956-8FD6-411A-BC10-D3B6BB65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33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33333"/>
                </a:solidFill>
              </a:defRPr>
            </a:pPr>
            <a:r>
              <a:rPr sz="1725" b="1">
                <a:solidFill>
                  <a:srgbClr val="333333"/>
                </a:solidFill>
              </a:rPr>
              <a:t>机会建议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B76C00-E6A9-4977-96F9-B7F63DE6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148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热点话题、选题和发布时间建议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ED949F-0A9F-4E45-90EC-904A07EE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2952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16BBBC-370D-4BA7-901D-33506FA6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8FF1CA-189F-439D-80F0-F751E94B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BF4A2F-F4CB-422A-82D1-838BE432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33333"/>
                </a:solidFill>
              </a:defRPr>
            </a:pPr>
            <a:r>
              <a:rPr sz="1725" b="1">
                <a:solidFill>
                  <a:srgbClr val="333333"/>
                </a:solidFill>
              </a:rPr>
              <a:t>个人中心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908867-3C02-45A1-8B70-8AD6E40D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账号绑定、偏好设置、头像上传</a:t>
            </a:r>
          </a:p>
        </p:txBody>
      </p:sp>
    </p:spTree>
    <p:extLst>
      <p:ext uri="{BB962C8B-B14F-4D97-AF65-F5344CB8AC3E}">
        <p14:creationId xmlns:p14="http://schemas.microsoft.com/office/powerpoint/2010/main" val="884136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64de158eb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17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e4f9ece734a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42AC92D-2DC2-41BC-AE92-140D996F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AD"/>
                </a:solidFill>
              </a:defRPr>
            </a:pPr>
            <a:r>
              <a:rPr sz="2850" b="1">
                <a:solidFill>
                  <a:srgbClr val="FF9AAD"/>
                </a:solidFill>
              </a:rPr>
              <a:t>功能一：增长总览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F998C4A-5B36-43C7-83BC-9D8A7173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作用：快速判断账号整体增长状态。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23E8475-C667-4F66-BEF6-E94EBB74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76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C7248D1-DD92-45E7-8F01-C104113D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190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展示账号健康度、总粉丝、今日新增、今日掉粉和净增趋势。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C65D0CD-3B98-4FC4-A56B-88295FFE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62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44B2912-7241-4B1B-9660-B114A2A7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76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通过播放 -&gt; 互动 -&gt; 主页访问 -&gt; 关注，查看粉丝转化漏斗。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24B9445-745F-40FC-87B8-0F4C3B3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48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F05468D-879B-4C55-94E1-FF637E6E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62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汇总最近视频的涨粉表现，帮助发现增长来源。</a:t>
            </a:r>
          </a:p>
        </p:txBody>
      </p:sp>
    </p:spTree>
    <p:extLst>
      <p:ext uri="{BB962C8B-B14F-4D97-AF65-F5344CB8AC3E}">
        <p14:creationId xmlns:p14="http://schemas.microsoft.com/office/powerpoint/2010/main" val="21454101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0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a053f2779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21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2c66d8de94f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08A4EF5-3BE7-4526-98E8-3B584DEF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AD"/>
                </a:solidFill>
              </a:defRPr>
            </a:pPr>
            <a:r>
              <a:rPr sz="2850" b="1">
                <a:solidFill>
                  <a:srgbClr val="FF9AAD"/>
                </a:solidFill>
              </a:rPr>
              <a:t>功能二：粉丝分析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124092B-D530-4722-A961-EEE2133F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作用：判断粉丝从哪里来，以及是否具有持续互动价值。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EB8FFD0-10BE-4A2F-85D0-CD2B5A5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76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67C7B54-9876-4F0C-A94F-4FCA7D41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190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按平台查看新增粉丝、掉粉和净增粉丝变化。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77CBCFB-2566-4417-8CA2-422EA32F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62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DAE4728-57FF-460C-9CE8-1B45D688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76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分析播放、互动、主页访问到关注的转化路径。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E76A7761-9322-4243-A5C5-9426D445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48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C23184C-C42E-4309-AA83-DC88FB4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62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结合评论、收藏、分享、弹幕等行为评估粉丝粘性。</a:t>
            </a:r>
          </a:p>
        </p:txBody>
      </p:sp>
    </p:spTree>
    <p:extLst>
      <p:ext uri="{BB962C8B-B14F-4D97-AF65-F5344CB8AC3E}">
        <p14:creationId xmlns:p14="http://schemas.microsoft.com/office/powerpoint/2010/main" val="6393993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1363a84844e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112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031017d8a4e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  <p:sp>
        <p:nvSpPr>
          <p:cNvPr id="1120" name="">
            <a:extLst xmlns:a="http://schemas.openxmlformats.org/drawingml/2006/main">
              <a:ext uri="{FF2B5EF4-FFF2-40B4-BE49-F238E27FC236}">
                <a16:creationId xmlns:a16="http://schemas.microsoft.com/office/drawing/2014/main" id="{B54A5BA0-5A26-4ECA-89F3-8CAA8FEB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AD"/>
                </a:solidFill>
              </a:defRPr>
            </a:pPr>
            <a:r>
              <a:rPr sz="2850" b="1">
                <a:solidFill>
                  <a:srgbClr val="FF9AAD"/>
                </a:solidFill>
              </a:rPr>
              <a:t>功能三：视频分析</a:t>
            </a:r>
          </a:p>
        </p:txBody>
      </p:sp>
      <p:sp>
        <p:nvSpPr>
          <p:cNvPr id="1121" name="">
            <a:extLst xmlns:a="http://schemas.openxmlformats.org/drawingml/2006/main">
              <a:ext uri="{FF2B5EF4-FFF2-40B4-BE49-F238E27FC236}">
                <a16:creationId xmlns:a16="http://schemas.microsoft.com/office/drawing/2014/main" id="{B1EEFD9E-7B7C-4ECC-8B2F-812A814B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作用：找出真正带来粉丝增长的视频。</a:t>
            </a:r>
          </a:p>
        </p:txBody>
      </p:sp>
      <p:sp>
        <p:nvSpPr>
          <p:cNvPr id="1122" name="">
            <a:extLst xmlns:a="http://schemas.openxmlformats.org/drawingml/2006/main">
              <a:ext uri="{FF2B5EF4-FFF2-40B4-BE49-F238E27FC236}">
                <a16:creationId xmlns:a16="http://schemas.microsoft.com/office/drawing/2014/main" id="{921EA43C-4618-43AA-907E-27F1FC83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76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3" name="">
            <a:extLst xmlns:a="http://schemas.openxmlformats.org/drawingml/2006/main">
              <a:ext uri="{FF2B5EF4-FFF2-40B4-BE49-F238E27FC236}">
                <a16:creationId xmlns:a16="http://schemas.microsoft.com/office/drawing/2014/main" id="{1736196C-6AF7-4689-A8E2-135A73DA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190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查看单条视频播放、点赞、评论、分享、收藏和完播率。</a:t>
            </a:r>
          </a:p>
        </p:txBody>
      </p:sp>
      <p:sp>
        <p:nvSpPr>
          <p:cNvPr id="1124" name="">
            <a:extLst xmlns:a="http://schemas.openxmlformats.org/drawingml/2006/main">
              <a:ext uri="{FF2B5EF4-FFF2-40B4-BE49-F238E27FC236}">
                <a16:creationId xmlns:a16="http://schemas.microsoft.com/office/drawing/2014/main" id="{AC2BE74E-55C0-4D76-B4DD-329A9FD4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62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5" name="">
            <a:extLst xmlns:a="http://schemas.openxmlformats.org/drawingml/2006/main">
              <a:ext uri="{FF2B5EF4-FFF2-40B4-BE49-F238E27FC236}">
                <a16:creationId xmlns:a16="http://schemas.microsoft.com/office/drawing/2014/main" id="{C88FFB41-453E-4A98-B6F4-3753EB57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76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计算视频涨粉贡献，避免只看播放量判断内容价值。</a:t>
            </a:r>
          </a:p>
        </p:txBody>
      </p:sp>
      <p:sp>
        <p:nvSpPr>
          <p:cNvPr id="1126" name="">
            <a:extLst xmlns:a="http://schemas.openxmlformats.org/drawingml/2006/main">
              <a:ext uri="{FF2B5EF4-FFF2-40B4-BE49-F238E27FC236}">
                <a16:creationId xmlns:a16="http://schemas.microsoft.com/office/drawing/2014/main" id="{67A376AE-6DA4-44D7-9A65-ED712A5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48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7" name="">
            <a:extLst xmlns:a="http://schemas.openxmlformats.org/drawingml/2006/main">
              <a:ext uri="{FF2B5EF4-FFF2-40B4-BE49-F238E27FC236}">
                <a16:creationId xmlns:a16="http://schemas.microsoft.com/office/drawing/2014/main" id="{5582AD7E-D99D-429D-8DB0-3F33E58D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62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对比不同视频表现，辅助复盘爆款内容特征。</a:t>
            </a:r>
          </a:p>
        </p:txBody>
      </p:sp>
    </p:spTree>
    <p:extLst>
      <p:ext uri="{BB962C8B-B14F-4D97-AF65-F5344CB8AC3E}">
        <p14:creationId xmlns:p14="http://schemas.microsoft.com/office/powerpoint/2010/main" val="6735290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7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cebf1940b48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1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d1007c85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7A884E7-674A-4670-A570-CC623E72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AD"/>
                </a:solidFill>
              </a:defRPr>
            </a:pPr>
            <a:r>
              <a:rPr sz="2850" b="1">
                <a:solidFill>
                  <a:srgbClr val="FF9AAD"/>
                </a:solidFill>
              </a:rPr>
              <a:t>功能四：内容分布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F468360-B5D6-4036-BA85-2C01DF22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作用：帮助创作者优化平台投入和内容结构。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C1F93C4-17F3-491D-909C-AE16E310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76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022ABB6-D165-486F-B213-4BFA8CA3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190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按平台查看内容数量、播放和互动表现。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F37B6FC-24BF-4D04-9D67-120FB74C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62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C51FDEF-644B-4963-BCAA-EE6B14D9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76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按内容类型分析哪类视频更容易涨粉。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6D74EC4-64F4-4D7B-946E-A5E0DAFA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48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F09F0D2-0105-41A3-9D97-661C0FC6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62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按发布时间观察效果，辅助调整发布节奏。</a:t>
            </a:r>
          </a:p>
        </p:txBody>
      </p:sp>
    </p:spTree>
    <p:extLst>
      <p:ext uri="{BB962C8B-B14F-4D97-AF65-F5344CB8AC3E}">
        <p14:creationId xmlns:p14="http://schemas.microsoft.com/office/powerpoint/2010/main" val="8431458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ca57e59074b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4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3ee4488d842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CF2EC7-9D63-48EF-9BA5-ABCEF09C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AD"/>
                </a:solidFill>
              </a:defRPr>
            </a:pPr>
            <a:r>
              <a:rPr sz="2850" b="1">
                <a:solidFill>
                  <a:srgbClr val="FF9AAD"/>
                </a:solidFill>
              </a:rPr>
              <a:t>功能五：机会建议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41CC47-6325-43F7-A69D-88A59C6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作用：把数据分析转成下一条内容的行动建议。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BA387C-E8A3-448F-A244-80DDE470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76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22ABAE-732A-4A69-A7A0-C1FA22B8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190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根据热点话题、历史表现和粉丝画像推荐选题。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7D3B6D-B25B-498F-98FD-F788BCB4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62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25F49F-D9D6-4781-B0FC-AC9E77AA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76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给出发布时间、平台侧重、标题封面等建议。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838D95-BDF3-4CBE-948E-99DE6211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48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9C8A88-8904-4FFC-B8C1-CC1800C0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62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每条建议保留证据指标，便于解释为什么推荐。</a:t>
            </a:r>
          </a:p>
        </p:txBody>
      </p:sp>
    </p:spTree>
    <p:extLst>
      <p:ext uri="{BB962C8B-B14F-4D97-AF65-F5344CB8AC3E}">
        <p14:creationId xmlns:p14="http://schemas.microsoft.com/office/powerpoint/2010/main" val="7099933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c407835094e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7275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3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b7c73cd2742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2335" y="0"/>
            <a:ext cx="1129665" cy="117094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DFB64-6C6A-4C82-A960-061085BF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AD"/>
                </a:solidFill>
              </a:defRPr>
            </a:pPr>
            <a:r>
              <a:rPr sz="2850" b="1">
                <a:solidFill>
                  <a:srgbClr val="FF9AAD"/>
                </a:solidFill>
              </a:rPr>
              <a:t>项目总结与展望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6795F-B10D-470D-B29B-2AA7B88E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当前项目已形成可运行 MVP，后续重点是真实链路联调。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D62E6-5F03-4CD4-820D-1B3A7F8F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1F7AE-DDD3-4247-959A-2DCE0A2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5D9"/>
                </a:solidFill>
              </a:defRPr>
            </a:pPr>
            <a:r>
              <a:rPr sz="2100" b="1">
                <a:solidFill>
                  <a:srgbClr val="2F65D9"/>
                </a:solidFill>
              </a:rPr>
              <a:t>已完成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18FCE-8624-4848-8B15-3F518ADF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15754-A21D-4045-A392-0EF01404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6 个 Vue 前端页面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DA0A4-BDBA-436D-8CBA-1A42ABB7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50D19-2266-4F58-AB28-E64ADA0D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Flask API 与 OpenAPI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6E009-7933-4756-BD74-B81C486B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B50F6-B73F-4E3C-B63D-B0C78E8B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mock / MySQL 数据源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3DFD2-F861-4644-A682-3EF017A2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0536E-D411-4E7A-AADD-E689404D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Kafka / Spark dry-run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824AC-65A0-48CF-8F34-60E0F0B3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34FD3-D17D-4739-91FD-9248BAF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86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9B9E"/>
                </a:solidFill>
              </a:defRPr>
            </a:pPr>
            <a:r>
              <a:rPr sz="2100" b="1">
                <a:solidFill>
                  <a:srgbClr val="149B9E"/>
                </a:solidFill>
              </a:rPr>
              <a:t>下一步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8F2B5-DF75-4D14-B9FB-42E38B56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540BF-2BB5-4B7A-AC99-52C6FCA9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765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补齐真实 .env 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6B94F-0CF1-4D60-A962-4C1F50DC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712172-039E-4C42-B00C-1599F6FC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按 preflight 分阶段验证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D1302C-BE7C-4080-AA2E-A57BDECC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FF1FE8-8BB8-4AF8-A1CF-12F6F7A7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81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联通 Kafka -&gt; Spark -&gt; MySQL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EC9B8-0AEA-4C06-9176-38586B93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DC8681-E616-4103-B4F3-8212A645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33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完善更多真实数据场景</a:t>
            </a:r>
          </a:p>
        </p:txBody>
      </p:sp>
    </p:spTree>
    <p:extLst>
      <p:ext uri="{BB962C8B-B14F-4D97-AF65-F5344CB8AC3E}">
        <p14:creationId xmlns:p14="http://schemas.microsoft.com/office/powerpoint/2010/main" val="120948278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C7628061-35FF-4CB3-A061-D5B96BCFD6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谢谢观看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8B82042-3EF1-4B11-89CD-A9DB0420FC3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5DDB6BBA-3191-4474-9EB5-18FE21E712B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2026/06/21</a:t>
            </a:r>
          </a:p>
        </p:txBody>
      </p:sp>
      <p:pic>
        <p:nvPicPr>
          <p:cNvPr id="13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251b58bde4d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181100" cy="1181100"/>
          </a:xfrm>
          <a:prstGeom xmlns:a="http://schemas.openxmlformats.org/drawingml/2006/main" prst="rect">
            <a:avLst/>
          </a:prstGeom>
        </p:spPr>
      </p:pic>
      <p:pic>
        <p:nvPicPr>
          <p:cNvPr id="1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9b3f0fc33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1100" y="10160"/>
            <a:ext cx="1129665" cy="11709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10229"/>
      </p:ext>
    </p:extLst>
  </p:cSld>
</p:sld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2AE00"/>
      </a:accent1>
      <a:accent2>
        <a:srgbClr val="FA9CAA"/>
      </a:accent2>
      <a:accent3>
        <a:srgbClr val="009BF9"/>
      </a:accent3>
      <a:accent4>
        <a:srgbClr val="B28836"/>
      </a:accent4>
      <a:accent5>
        <a:srgbClr val="B27C36"/>
      </a:accent5>
      <a:accent6>
        <a:srgbClr val="B25959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2026-06-22T18:02:38.9540000Z</dcterms:created>
  <dcterms:modified xsi:type="dcterms:W3CDTF">2026-06-22T18:02:38.9540000Z</dcterms:modified>
</coreProperties>
</file>