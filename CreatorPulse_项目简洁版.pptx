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1a17fe2dc4ea5" /><Relationship Type="http://schemas.openxmlformats.org/officeDocument/2006/relationships/extended-properties" Target="/docProps/app.xml" Id="Raa93613cba47485f" /><Relationship Type="http://schemas.openxmlformats.org/officeDocument/2006/relationships/officeDocument" Target="/ppt/presentation.xml" Id="R504cbf04b344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13c1fce524178"/>
  </p:sldMasterIdLst>
  <p:notesMasterIdLst>
    <p:notesMasterId xmlns:r="http://schemas.openxmlformats.org/officeDocument/2006/relationships" r:id="Rd537be9c171049ce"/>
  </p:notesMasterIdLst>
  <p:sldIdLst>
    <p:sldId xmlns:r="http://schemas.openxmlformats.org/officeDocument/2006/relationships" id="256" r:id="R0d89536a699a4ff0"/>
    <p:sldId xmlns:r="http://schemas.openxmlformats.org/officeDocument/2006/relationships" id="257" r:id="R45dc09ffbf0a49ee"/>
    <p:sldId xmlns:r="http://schemas.openxmlformats.org/officeDocument/2006/relationships" id="258" r:id="R85f548f59a9946f4"/>
    <p:sldId xmlns:r="http://schemas.openxmlformats.org/officeDocument/2006/relationships" id="259" r:id="Rbd6b7912a9854367"/>
    <p:sldId xmlns:r="http://schemas.openxmlformats.org/officeDocument/2006/relationships" id="260" r:id="Rb79bd28ac7554569"/>
    <p:sldId xmlns:r="http://schemas.openxmlformats.org/officeDocument/2006/relationships" id="261" r:id="R2bf94d8b0d7349cc"/>
    <p:sldId xmlns:r="http://schemas.openxmlformats.org/officeDocument/2006/relationships" id="262" r:id="R1ee5cf8496aa4f5b"/>
    <p:sldId xmlns:r="http://schemas.openxmlformats.org/officeDocument/2006/relationships" id="263" r:id="R7a8ed5620fe64d4e"/>
    <p:sldId xmlns:r="http://schemas.openxmlformats.org/officeDocument/2006/relationships" id="264" r:id="Rf9dcb3ed9c1444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68d7110644b30" /><Relationship Type="http://schemas.openxmlformats.org/officeDocument/2006/relationships/slideMaster" Target="/ppt/slideMasters/slideMaster1.xml" Id="R53013c1fce524178" /><Relationship Type="http://schemas.openxmlformats.org/officeDocument/2006/relationships/notesMaster" Target="/ppt/notesMasters/notesMaster1.xml" Id="Rd537be9c171049ce" /><Relationship Type="http://schemas.openxmlformats.org/officeDocument/2006/relationships/presProps" Target="/ppt/presProps.xml" Id="R1aab7ecc0cfd47c5" /><Relationship Type="http://schemas.openxmlformats.org/officeDocument/2006/relationships/tableStyles" Target="/ppt/tableStyles.xml" Id="R83e492886d86494c" /><Relationship Type="http://schemas.openxmlformats.org/officeDocument/2006/relationships/slide" Target="/ppt/slides/slide1.xml" Id="R0d89536a699a4ff0" /><Relationship Type="http://schemas.openxmlformats.org/officeDocument/2006/relationships/slide" Target="/ppt/slides/slide2.xml" Id="R45dc09ffbf0a49ee" /><Relationship Type="http://schemas.openxmlformats.org/officeDocument/2006/relationships/slide" Target="/ppt/slides/slide3.xml" Id="R85f548f59a9946f4" /><Relationship Type="http://schemas.openxmlformats.org/officeDocument/2006/relationships/slide" Target="/ppt/slides/slide4.xml" Id="Rbd6b7912a9854367" /><Relationship Type="http://schemas.openxmlformats.org/officeDocument/2006/relationships/slide" Target="/ppt/slides/slide5.xml" Id="Rb79bd28ac7554569" /><Relationship Type="http://schemas.openxmlformats.org/officeDocument/2006/relationships/slide" Target="/ppt/slides/slide6.xml" Id="R2bf94d8b0d7349cc" /><Relationship Type="http://schemas.openxmlformats.org/officeDocument/2006/relationships/slide" Target="/ppt/slides/slide7.xml" Id="R1ee5cf8496aa4f5b" /><Relationship Type="http://schemas.openxmlformats.org/officeDocument/2006/relationships/slide" Target="/ppt/slides/slide8.xml" Id="R7a8ed5620fe64d4e" /><Relationship Type="http://schemas.openxmlformats.org/officeDocument/2006/relationships/slide" Target="/ppt/slides/slide9.xml" Id="Rf9dcb3ed9c1444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b7bd4f51a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reatorPulse">
      <a:dk1>
        <a:srgbClr val="000000"/>
      </a:dk1>
      <a:lt1>
        <a:srgbClr val="FFFFFF"/>
      </a:lt1>
      <a:dk2>
        <a:srgbClr val="0B1220"/>
      </a:dk2>
      <a:lt2>
        <a:srgbClr val="EEF4F8"/>
      </a:lt2>
      <a:accent1>
        <a:srgbClr val="246BFE"/>
      </a:accent1>
      <a:accent2>
        <a:srgbClr val="16A3A6"/>
      </a:accent2>
      <a:accent3>
        <a:srgbClr val="F59E0B"/>
      </a:accent3>
      <a:accent4>
        <a:srgbClr val="20A66A"/>
      </a:accent4>
      <a:accent5>
        <a:srgbClr val="E45757"/>
      </a:accent5>
      <a:accent6>
        <a:srgbClr val="7C3AED"/>
      </a:accent6>
      <a:hlink>
        <a:srgbClr val="246BF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reatorPul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38f81a0a7047da" /><Relationship Type="http://schemas.openxmlformats.org/officeDocument/2006/relationships/notesMaster" Target="/ppt/notesMasters/notesMaster1.xml" Id="Re8c9b247ca30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dbcfddfae4dfa" /><Relationship Type="http://schemas.openxmlformats.org/officeDocument/2006/relationships/notesMaster" Target="/ppt/notesMasters/notesMaster1.xml" Id="R5e03013d1ea7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1fa832bde4ac6" /><Relationship Type="http://schemas.openxmlformats.org/officeDocument/2006/relationships/notesMaster" Target="/ppt/notesMasters/notesMaster1.xml" Id="Rdee4d0b0554245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21d7260c7e469e" /><Relationship Type="http://schemas.openxmlformats.org/officeDocument/2006/relationships/notesMaster" Target="/ppt/notesMasters/notesMaster1.xml" Id="R91fcd2f6591449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8e69a330fa48c2" /><Relationship Type="http://schemas.openxmlformats.org/officeDocument/2006/relationships/notesMaster" Target="/ppt/notesMasters/notesMaster1.xml" Id="Rafe5ca4faee8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27429932a8459d" /><Relationship Type="http://schemas.openxmlformats.org/officeDocument/2006/relationships/notesMaster" Target="/ppt/notesMasters/notesMaster1.xml" Id="Rcd483d1b4c2541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60c4438f1747e8" /><Relationship Type="http://schemas.openxmlformats.org/officeDocument/2006/relationships/notesMaster" Target="/ppt/notesMasters/notesMaster1.xml" Id="R8a4709396cd643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16156f559442b" /><Relationship Type="http://schemas.openxmlformats.org/officeDocument/2006/relationships/notesMaster" Target="/ppt/notesMasters/notesMaster1.xml" Id="R1b0f7bae96a645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37c2b710ac4b62" /><Relationship Type="http://schemas.openxmlformats.org/officeDocument/2006/relationships/notesMaster" Target="/ppt/notesMasters/notesMaster1.xml" Id="Rf5d29b423ff04e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a40b04a45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b0658e2154b8a" /><Relationship Type="http://schemas.openxmlformats.org/officeDocument/2006/relationships/slideLayout" Target="/ppt/slideLayouts/slideLayout1.xml" Id="R5c07266d5bf2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7266d5bf2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reatorPulse">
      <a:dk1>
        <a:srgbClr val="000000"/>
      </a:dk1>
      <a:lt1>
        <a:srgbClr val="FFFFFF"/>
      </a:lt1>
      <a:dk2>
        <a:srgbClr val="0B1220"/>
      </a:dk2>
      <a:lt2>
        <a:srgbClr val="EEF4F8"/>
      </a:lt2>
      <a:accent1>
        <a:srgbClr val="246BFE"/>
      </a:accent1>
      <a:accent2>
        <a:srgbClr val="16A3A6"/>
      </a:accent2>
      <a:accent3>
        <a:srgbClr val="F59E0B"/>
      </a:accent3>
      <a:accent4>
        <a:srgbClr val="20A66A"/>
      </a:accent4>
      <a:accent5>
        <a:srgbClr val="E45757"/>
      </a:accent5>
      <a:accent6>
        <a:srgbClr val="7C3AED"/>
      </a:accent6>
      <a:hlink>
        <a:srgbClr val="246BF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reatorPul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62a498e8d4451" /><Relationship Type="http://schemas.openxmlformats.org/officeDocument/2006/relationships/image" Target="/ppt/media/image.png" Id="Rbac0ba282fff4e73" /><Relationship Type="http://schemas.openxmlformats.org/officeDocument/2006/relationships/notesSlide" Target="/ppt/notesSlides/notesSlide1.xml" Id="R6fde80c4728348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add8d506d442d" /><Relationship Type="http://schemas.openxmlformats.org/officeDocument/2006/relationships/notesSlide" Target="/ppt/notesSlides/notesSlide2.xml" Id="R1e8e5b75eb2a44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0b85d9144c1c" /><Relationship Type="http://schemas.openxmlformats.org/officeDocument/2006/relationships/notesSlide" Target="/ppt/notesSlides/notesSlide3.xml" Id="R5cdcf694478a4e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1c3b7e6e2451b" /><Relationship Type="http://schemas.openxmlformats.org/officeDocument/2006/relationships/notesSlide" Target="/ppt/notesSlides/notesSlide4.xml" Id="R37025c6267ec47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49eeaced44689" /><Relationship Type="http://schemas.openxmlformats.org/officeDocument/2006/relationships/notesSlide" Target="/ppt/notesSlides/notesSlide5.xml" Id="R1725cdb8ebe247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8844a243453b" /><Relationship Type="http://schemas.openxmlformats.org/officeDocument/2006/relationships/notesSlide" Target="/ppt/notesSlides/notesSlide6.xml" Id="R55d043978d1a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a84b6ec34f44" /><Relationship Type="http://schemas.openxmlformats.org/officeDocument/2006/relationships/notesSlide" Target="/ppt/notesSlides/notesSlide7.xml" Id="R5c66d4d2ef8d4d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f150c684b4e62" /><Relationship Type="http://schemas.openxmlformats.org/officeDocument/2006/relationships/notesSlide" Target="/ppt/notesSlides/notesSlide8.xml" Id="R5102511c70a341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0d700316c4367" /><Relationship Type="http://schemas.openxmlformats.org/officeDocument/2006/relationships/notesSlide" Target="/ppt/notesSlides/notesSlide9.xml" Id="Rd41f46c659ea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0ba282fff4e73"/>
          <a:srcRect xmlns:a="http://schemas.openxmlformats.org/drawingml/2006/main" l="0" t="15341" r="0" b="15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AAADD-30BE-4A01-89BE-7F5AC358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8856A-31F7-4363-B36C-0F90AEF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E1F8D-BF3C-4B9A-997A-A38C6B0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CreatorPulse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723C-DC52-4FBC-9DAD-5D6E3B9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CE7F1"/>
                </a:solidFill>
              </a:defRPr>
            </a:pPr>
            <a:r>
              <a:rPr sz="2250">
                <a:solidFill>
                  <a:srgbClr val="DCE7F1"/>
                </a:solidFill>
              </a:rPr>
              <a:t>达人粉丝增长分析与智能创作建议平台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8E285-E07D-4572-B306-DF189E5E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7D6"/>
                </a:solidFill>
              </a:defRPr>
            </a:pPr>
            <a:r>
              <a:rPr sz="1800">
                <a:solidFill>
                  <a:srgbClr val="B9C7D6"/>
                </a:solidFill>
              </a:rPr>
              <a:t>用统一数据视图回答三个问题：谁在涨粉、为什么涨粉、下一条内容怎么做。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A8B2E-61BB-4D6B-9A9E-B90FA15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A6">
              <a:alpha val="9412"/>
            </a:srgbClr>
          </a:solidFill>
          <a:ln xmlns:a="http://schemas.openxmlformats.org/drawingml/2006/main" w="9525">
            <a:solidFill>
              <a:srgbClr val="16A3A6">
                <a:alpha val="3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9085E-8042-4DB7-9973-1BCD75E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A6"/>
                </a:solidFill>
              </a:defRPr>
            </a:pPr>
            <a:r>
              <a:rPr sz="1125" b="1">
                <a:solidFill>
                  <a:srgbClr val="16A3A6"/>
                </a:solidFill>
              </a:rPr>
              <a:t>Vue + Flask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EB0BB-9CF8-4B18-B2EC-8DF7B743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95750"/>
            <a:ext cx="1047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66A">
              <a:alpha val="9412"/>
            </a:srgbClr>
          </a:solidFill>
          <a:ln xmlns:a="http://schemas.openxmlformats.org/drawingml/2006/main" w="9525">
            <a:solidFill>
              <a:srgbClr val="20A66A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AD1E6-DEEC-42CF-930A-8DC2E0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A66A"/>
                </a:solidFill>
              </a:defRPr>
            </a:pPr>
            <a:r>
              <a:rPr sz="1125" b="1">
                <a:solidFill>
                  <a:srgbClr val="20A66A"/>
                </a:solidFill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B3600-E5A3-46E9-939D-105C33A3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957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>
              <a:alpha val="9412"/>
            </a:srgbClr>
          </a:solidFill>
          <a:ln xmlns:a="http://schemas.openxmlformats.org/drawingml/2006/main" w="9525">
            <a:solidFill>
              <a:srgbClr val="F59E0B">
                <a:alpha val="3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B8FC7-3EDC-4306-9CB1-F466A6E7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Kafka + Spark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9D49B-065A-433B-BF46-DCF790BC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4A3B8"/>
                </a:solidFill>
              </a:defRPr>
            </a:pPr>
            <a:r>
              <a:rPr sz="1200">
                <a:solidFill>
                  <a:srgbClr val="94A3B8"/>
                </a:solidFill>
              </a:rPr>
              <a:t>项目简洁版汇报</a:t>
            </a:r>
          </a:p>
        </p:txBody>
      </p:sp>
    </p:spTree>
    <p:extLst>
      <p:ext uri="{BB962C8B-B14F-4D97-AF65-F5344CB8AC3E}">
        <p14:creationId xmlns:p14="http://schemas.microsoft.com/office/powerpoint/2010/main" val="730194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9B9E4-E773-40F7-915D-42318B0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56294-ADC6-4239-97E6-7B47607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项目要解决什么问题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BC673-2E46-4689-A4FA-CA5D8FB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内容创作者不是缺数据，而是缺一个能解释增长的统一视图。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A0673-E4CA-4A71-827E-1C425B5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4AAAE-D003-460E-9894-5BBAAAA9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4E9C-B8E1-4B89-A5F1-E065F221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A0E03-1BB1-4CDE-93FD-C940AF5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622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数据分散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DBF5E-759D-4E62-9CA0-A86A0B3D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62275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多平台后台割裂，整体表现难以快速判断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19615-D633-41C3-A2D1-2481362B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24366-18F0-418D-8F92-7A90B0E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62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B7917-862D-4338-8675-1909194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1744B-C568-4DDC-B446-DF74DBA7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622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播放不等于涨粉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E1369-9636-4222-B42C-E0A6DA1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62275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高播放未必带来关注，需要看转粉效率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214EB-ED1B-4EA1-A369-6345040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31908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E5162-9FD6-421A-A511-4E9C8FDF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62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A9742-67CE-42C1-9B5F-74BBC56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95048-EE41-4EDD-902E-B601F6F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62225"/>
            <a:ext cx="2085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复盘依赖经验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C0535-DB49-4362-AD6B-859A31E2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62275"/>
            <a:ext cx="20859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选题、发布时间和平台侧重缺少数据依据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BFD15-11BB-4ADF-B2DD-7139A4D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6B7A"/>
                </a:solidFill>
              </a:defRPr>
            </a:pPr>
            <a:r>
              <a:rPr sz="1350" b="1">
                <a:solidFill>
                  <a:srgbClr val="5F6B7A"/>
                </a:solidFill>
              </a:rPr>
              <a:t>核心链路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D72D4-811A-4D9A-AE77-1B5753F7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1190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EAE83-9FBC-47EF-AF21-A066F85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76825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曝光播放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44AAC-25DB-4FAA-987C-F55924EA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91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5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558C0-7749-4BA6-B4FE-78B43408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1190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403DF-1149-4EA1-A96B-B2B8E14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76825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互动行为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6941D-A54A-4226-A230-52C09AD7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91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5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CAC73-270C-41BE-8753-73C48221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1190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DBBF0-BB04-4C33-A6BA-F9CB2E6D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76825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粉丝转化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B47E3A-CC4D-4564-8D8C-EEC1E13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91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5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C553F-89CB-4A57-8DC7-56BB2BE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190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BCD45-D443-4345-B495-5448E3E8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76825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内容复盘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2992F9-D44D-425B-8F22-16EFCC23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5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4818F-6A33-40E3-A227-C9F835D0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119062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51F2FE-0513-46B8-B933-BF04A349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76825"/>
            <a:ext cx="96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创作建议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3037EA-DA57-4DCD-9817-45A9E8E7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CC2DD-3574-4B26-BE34-F91E8C6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02</a:t>
            </a:r>
          </a:p>
        </p:txBody>
      </p:sp>
    </p:spTree>
    <p:extLst>
      <p:ext uri="{BB962C8B-B14F-4D97-AF65-F5344CB8AC3E}">
        <p14:creationId xmlns:p14="http://schemas.microsoft.com/office/powerpoint/2010/main" val="342586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0BCC8-3301-42F8-954F-AB00370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2D6A3-FD46-4832-97DE-46775191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CreatorPulse 的解决方案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0B3D9-768E-459C-BA15-77D38BC0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把跨平台数据统一成可看、可解释、可行动的增长工作台。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6E820-B6E0-4C4E-9087-F833864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E5739-289D-4E65-8A39-E6FE57FA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AF87C-6C88-4D1C-8342-16132EC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38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6BFE"/>
                </a:solidFill>
              </a:defRPr>
            </a:pPr>
            <a:r>
              <a:rPr sz="3150" b="1">
                <a:solidFill>
                  <a:srgbClr val="246BFE"/>
                </a:solidFill>
              </a:rPr>
              <a:t>统一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09ECD-5BD0-419D-B61F-DFEFD58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跨平台聚合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FD195-302D-464F-A4CE-ACD28F9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94857-03C6-443D-94BE-6C43E306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71FEF-54EA-44D0-A400-45CA34FB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38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6"/>
                </a:solidFill>
              </a:defRPr>
            </a:pPr>
            <a:r>
              <a:rPr sz="3150" b="1">
                <a:solidFill>
                  <a:srgbClr val="16A3A6"/>
                </a:solidFill>
              </a:rPr>
              <a:t>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D478B-6606-4999-AD63-314C886B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粉丝增长分析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F42A1-D449-4724-9031-0AC3F67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23274-2A48-4E5C-AC18-9BB28C3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ECE9B-C7AE-4188-9561-B40C316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行动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53D79-383E-4FE4-ABFC-AEF1CB2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机会与建议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883AB-07EE-4F9F-97F8-F0076CC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BE62A-5896-4AF2-9C7C-285D041F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87C45-15ED-4A0F-BDB1-FB60075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38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A66A"/>
                </a:solidFill>
              </a:defRPr>
            </a:pPr>
            <a:r>
              <a:rPr sz="3150" b="1">
                <a:solidFill>
                  <a:srgbClr val="20A66A"/>
                </a:solidFill>
              </a:rPr>
              <a:t>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AA79A-7777-4F8F-9F3F-8A6F1D2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MVP 可运行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2D5FA-83EA-4867-B778-917437C3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07F34-04E3-48C5-ACCD-5AACE877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33"/>
                </a:solidFill>
              </a:defRPr>
            </a:pPr>
            <a:r>
              <a:rPr sz="1650">
                <a:solidFill>
                  <a:srgbClr val="172033"/>
                </a:solidFill>
              </a:rPr>
              <a:t>一个页面查看账号健康度、粉丝趋势和视频表现。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4A7D4-FED3-4B01-8CC4-CD59A8F9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43947-772F-43D5-A444-ABD202B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33"/>
                </a:solidFill>
              </a:defRPr>
            </a:pPr>
            <a:r>
              <a:rPr sz="1650">
                <a:solidFill>
                  <a:srgbClr val="172033"/>
                </a:solidFill>
              </a:rPr>
              <a:t>用转粉率、互动率、内容效率解释增长质量。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F0532-A8D1-4AFD-9008-6295F305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53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5C6D8-8411-4E89-997C-4CDB2B38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033"/>
                </a:solidFill>
              </a:defRPr>
            </a:pPr>
            <a:r>
              <a:rPr sz="1650">
                <a:solidFill>
                  <a:srgbClr val="172033"/>
                </a:solidFill>
              </a:rPr>
              <a:t>根据热点、粉丝画像和历史表现给出创作建议。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63C77-8BDA-40FB-B4AF-5A7129B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B08B6-DE41-4EF9-ADCD-7EB92D15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03</a:t>
            </a:r>
          </a:p>
        </p:txBody>
      </p:sp>
    </p:spTree>
    <p:extLst>
      <p:ext uri="{BB962C8B-B14F-4D97-AF65-F5344CB8AC3E}">
        <p14:creationId xmlns:p14="http://schemas.microsoft.com/office/powerpoint/2010/main" val="473394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84DD4-5EF1-4A14-A859-EB40FCD2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B1351-351D-4494-AC43-EBE3EAEA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前端做了哪些页面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DF3E2-18DA-4B0E-9D9E-7082C4ED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MVP 已完成 6 个一级页面，覆盖从总览到建议的主要使用路径。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EB131-E528-49A1-A157-4B83CD0D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6C0EB-37A9-4313-A0A7-5D710E96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B5B8F-93DB-4446-9216-7CF95C74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907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EB50E-21AE-4A75-95C0-B563E1A0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增长总览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6A9EE-A79F-4027-8DCD-3147CE8A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241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账号健康度、粉丝趋势、转化漏斗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69FEE-A329-4ECF-8102-15A69635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190B-DBE5-4F10-971F-0C06E221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B7926-C9F0-4FFA-8B85-8E81E3C2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ED658-1BAF-4892-A4A6-EB5B98E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粉丝分析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6EEE9-D435-4E6E-B6D7-9966D736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新增/掉粉、画像、粘性行为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B954E-8446-4A95-8CB9-00252A5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036C0-44DB-4EC8-85E4-2FE5011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CCFE2-2132-49FC-8E0C-AEF1B0BC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9A7FB-8215-42DF-AE16-49EF4161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24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视频分析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82938-2711-4382-8B37-8B57CCBF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241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单视频表现、转粉贡献、完播率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BD045-EE6D-487F-B9E4-907698A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7E590-B7FB-4976-B8D9-AB5589B0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9C490-13E7-40D6-8D5F-9CB86991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0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DB62D-9DEE-494D-A26F-5EC069C3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内容分布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DD56E-3BE5-44E3-BB06-9022D2E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平台、类型、发布时间分布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C69D1-C73B-48B8-9801-D04A2AD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7EB42-C3D3-416F-805F-4471568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31579-18AE-4010-AEA1-4B2FCCC3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0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571B8-50C9-4D8B-B043-6204A04A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机会建议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1964D-8B1F-463C-8C30-7BCB765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434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热点话题、选题、发布时间建议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BAD189-23D9-48BD-8AC0-D7B8334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048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C9FEC-B92C-4671-9643-7E15AB5B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852B2-F5D8-4780-A5DE-33A59AF2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0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DE494-B28C-4110-A36D-9987F5F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个人中心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44339-1943-4564-96EB-3785C99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434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  <a:r>
              <a:rPr sz="1200">
                <a:solidFill>
                  <a:srgbClr val="5F6B7A"/>
                </a:solidFill>
              </a:rPr>
              <a:t>账号绑定、偏好配置、头像上传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221454-FEC2-4B80-9FEE-E306C4DC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9F744-1D64-47BD-BFDC-94B4E7D1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04</a:t>
            </a:r>
          </a:p>
        </p:txBody>
      </p:sp>
    </p:spTree>
    <p:extLst>
      <p:ext uri="{BB962C8B-B14F-4D97-AF65-F5344CB8AC3E}">
        <p14:creationId xmlns:p14="http://schemas.microsoft.com/office/powerpoint/2010/main" val="1351578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2F6F0-A008-4C0B-ABA2-1C3A45D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62C81-AAD2-4AC6-A7BF-A3BE6F7B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系统架构：前后端与数据链路解耦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78E9D-87DA-4125-8F9E-67709F9E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Vue 和 Flask 只读 API/MySQL，大数据链路可以独立启动和排查。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08424-E12B-4E8C-B0DF-44EE457C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46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3AABF-33F1-41EE-822D-3D4C938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BFE"/>
                </a:solidFill>
              </a:defRPr>
            </a:pPr>
            <a:r>
              <a:rPr sz="1650" b="1">
                <a:solidFill>
                  <a:srgbClr val="246BFE"/>
                </a:solidFill>
              </a:rPr>
              <a:t>Vue 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F15DA-28EF-45CF-8369-A214588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6 个页面</a:t>
            </a:r>
          </a:p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可视化展示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20368-4C4C-418B-AD93-F600E9BE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16A3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04758-5E54-41B7-B1EB-6567977E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A6"/>
                </a:solidFill>
              </a:defRPr>
            </a:pPr>
            <a:r>
              <a:rPr sz="1650" b="1">
                <a:solidFill>
                  <a:srgbClr val="16A3A6"/>
                </a:solidFill>
              </a:rPr>
              <a:t>Flask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91806-6DE7-4E79-B279-FD4FEF31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ViewModel 合同</a:t>
            </a:r>
          </a:p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50517-F54F-40BE-B35C-78C28BC5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20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58CC9-2384-4682-868B-C285EFB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A66A"/>
                </a:solidFill>
              </a:defRPr>
            </a:pPr>
            <a:r>
              <a:rPr sz="1650" b="1">
                <a:solidFill>
                  <a:srgbClr val="20A66A"/>
                </a:solidFill>
              </a:rPr>
              <a:t>数据源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037B5-9558-4CFA-9F1E-E5669E62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mock JSON</a:t>
            </a:r>
          </a:p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或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FD810-1EB3-470F-83C2-A970F3B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1BBEE-C248-4417-8DA2-80D8AD6D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大数据链路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CC99B-1180-4E54-B783-BE58546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Flume / Kafka</a:t>
            </a:r>
          </a:p>
          <a:p xmlns:a="http://schemas.openxmlformats.org/drawingml/2006/main">
            <a:pPr algn="ctr"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Spark Streaming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D7987-6F5A-45F2-A06E-E63A15A8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86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5B5FD-2948-4961-80EE-7A22CF01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86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E9535-7551-452E-B077-53A6AF9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861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4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5964D-0F70-4E46-80F5-866FEF38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演示主线：Vue -&gt; Flask API -&gt; mock JSON / 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488AF-4EBC-4623-9D4B-F86D413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57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6B7A"/>
                </a:solidFill>
              </a:defRPr>
            </a:pPr>
            <a:r>
              <a:rPr sz="1425">
                <a:solidFill>
                  <a:srgbClr val="5F6B7A"/>
                </a:solidFill>
              </a:rPr>
              <a:t>真实流式链路作为独立能力接入，不影响前端和 API 的日常演示。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09C79-6FB6-4CA3-A76D-DFA4218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814EC-C42E-4F43-81E0-70A6A03B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05</a:t>
            </a:r>
          </a:p>
        </p:txBody>
      </p:sp>
    </p:spTree>
    <p:extLst>
      <p:ext uri="{BB962C8B-B14F-4D97-AF65-F5344CB8AC3E}">
        <p14:creationId xmlns:p14="http://schemas.microsoft.com/office/powerpoint/2010/main" val="589803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D9146-DBFE-42C1-ACD0-484AA3F3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D7D6-ECD8-406A-A0C7-0B46B0F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大数据演示链路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3D430-3B9E-435A-ABCF-107871B6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从模拟事件到聚合结果，形成可验证的数据处理闭环。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1E016-A0BB-4099-9100-CF55D93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2833B-11E9-44F8-8E7E-4E7EF25D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6CF85-F55E-41BE-95F6-B11C7A89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mock_generator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31AD9-65BC-4882-BC5C-858B73B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生成视频/粉丝事件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58AB9-D38C-481B-8A01-56FEC048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A9AD3-C518-4377-81B7-AE7875D2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8FA0F-E116-4FAE-81DD-CA1EC7E5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C7A0-7FD5-4AB7-91C6-9333EE4B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Flume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D3AB5-E5A6-406D-B70B-41B278B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采集 JSON 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7F81A-BE78-4A5F-9845-2930072C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AFB0-09D1-4C10-BAFB-51AEE084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F0BF4-354C-4DAE-81C5-A0B3193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68881-ED83-415F-8E5D-CF22D8F0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Kafka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CA880-B93A-4E19-9149-E49763B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消息队列缓冲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366D3-21FD-4F72-87B2-06EEBEB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FD304-E5FA-4B39-8D5A-3F815C5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9B17E-22ED-47C2-A986-4095D11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6893C-2561-433A-BD48-DA6D0939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Spark Streaming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DECC1-3082-47FB-9D92-25AEBCA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实时聚合计算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519E2-F4E5-494A-8452-A55B99D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4059D-CEB6-4294-ADCD-5D58600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99CCD-A99B-4436-9D39-B8BAEC2C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E5215-EC4A-471E-988F-E3208FA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MySQL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EE484-B98C-45F1-9B65-73159329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保存指标结果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309C0C-F373-49AB-B4AA-00F19FBC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D190D-EC3B-4465-AC47-9C6642A6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F2AD5-8156-4CF5-B7CE-32EC07F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47FAD-4447-4E14-9365-228050C3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28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Flask + Vue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90DE3-BC50-4EBE-8293-696413A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F6B7A"/>
                </a:solidFill>
              </a:defRPr>
            </a:pPr>
            <a:r>
              <a:rPr sz="1050">
                <a:solidFill>
                  <a:srgbClr val="5F6B7A"/>
                </a:solidFill>
              </a:rPr>
              <a:t>展示到页面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39127-5F4A-46F6-8FF9-5577C300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72033"/>
                </a:solidFill>
              </a:defRPr>
            </a:pPr>
            <a:r>
              <a:rPr sz="1650">
                <a:solidFill>
                  <a:srgbClr val="172033"/>
                </a:solidFill>
              </a:rPr>
              <a:t>当前状态：已完成 Kafka/Spark dry-run、离线聚合和 VM 一键脚本；真实写入按 preflight 分阶段开启。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23DDB-B908-496D-AC3C-BEAF2F39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4EA7D6-BE8C-4188-BC37-8B62AAA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06</a:t>
            </a:r>
          </a:p>
        </p:txBody>
      </p:sp>
    </p:spTree>
    <p:extLst>
      <p:ext uri="{BB962C8B-B14F-4D97-AF65-F5344CB8AC3E}">
        <p14:creationId xmlns:p14="http://schemas.microsoft.com/office/powerpoint/2010/main" val="1139810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EE73E-6FB4-4F79-AA42-26BAAB8F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5DD6A-A4DB-4D79-8865-18C17EC1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技术实现重点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4E9C8-FA47-43C3-9990-320B58C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不是只做页面，而是把数据合同、存储、计算和验证都串起来。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A6D20-9796-4586-9A26-60080A3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9CE2D-FA5D-4C11-8E3A-6491984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6BFE"/>
                </a:solidFill>
              </a:defRPr>
            </a:pPr>
            <a:r>
              <a:rPr sz="1800" b="1">
                <a:solidFill>
                  <a:srgbClr val="246BFE"/>
                </a:solidFill>
              </a:rPr>
              <a:t>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D1C0F-D5EF-4EBD-8A91-6535C6E4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05152-DDCC-47C0-BC03-67684374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Vue/Vite 工程化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70462-A7DA-4545-8894-68BABB79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86C0F-9D92-4A33-8084-BD21AC6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6 个页面接入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02868-DE71-45A7-9280-CB0673D7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50848-E9CE-4365-BEDD-2AD3F34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908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深色数据看板风格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4ED68-CAD0-4117-8FEE-F3A01A89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6906-0B74-456C-985F-A24A44B5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A6"/>
                </a:solidFill>
              </a:defRPr>
            </a:pPr>
            <a:r>
              <a:rPr sz="1800" b="1">
                <a:solidFill>
                  <a:srgbClr val="16A3A6"/>
                </a:solidFill>
              </a:rPr>
              <a:t>后端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C4B73-58F8-434C-9F9C-177AFC5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FAEAE-0943-4364-A8FB-2068457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955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Flask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5A186-D430-484D-BB26-9F0616BD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4864F-DB2C-4DC4-8733-C61D5BD1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432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ViewModel 合同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EE4DC-E9A2-491A-AC2B-F1EF90C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1607E-44FF-4C21-A829-4E212DA5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908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mock/MySQL 双 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BA3A1-8B8A-402B-AB79-932D7A7A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CF8F4-6271-48A7-8541-46A15F5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A66A"/>
                </a:solidFill>
              </a:defRPr>
            </a:pPr>
            <a:r>
              <a:rPr sz="1800" b="1">
                <a:solidFill>
                  <a:srgbClr val="20A66A"/>
                </a:solidFill>
              </a:rPr>
              <a:t>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7FBF2-ADE7-4EC8-8D19-8AA0CC8F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9370B-C746-4450-8C84-054A14D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05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MySQL schema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C803D-E1AD-4795-9EDE-B0843A0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5D607-C8B2-4C6D-88D3-DD9AA1F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mock 导入脚本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A5B21-F92F-48C4-BEF9-23C860A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87857-B275-4B27-B1BC-CA42ACE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OpenAPI 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DD7807-473B-4C82-A083-54969DE3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A8AD2-421E-4A71-9031-541378A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计算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9142A-8409-4A23-AA15-2342FD14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0E0A2-465D-4D30-A77C-A18CDA9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05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Kafka 事件闭环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8D336-55FE-48FE-8271-D3B69D7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501C1-2411-408B-8D69-865E38F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529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Spark 聚合 dry-run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64079-7844-495E-926E-C52895C7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249E96-928D-4DDA-8702-FCCADA3A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006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033"/>
                </a:solidFill>
              </a:defRPr>
            </a:pPr>
            <a:r>
              <a:rPr sz="1200">
                <a:solidFill>
                  <a:srgbClr val="172033"/>
                </a:solidFill>
              </a:rPr>
              <a:t>日报/周报/月报脚本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2EA055-859A-4255-B039-A38938FD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54299-8B76-449D-B9AE-05C116E7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07</a:t>
            </a:r>
          </a:p>
        </p:txBody>
      </p:sp>
    </p:spTree>
    <p:extLst>
      <p:ext uri="{BB962C8B-B14F-4D97-AF65-F5344CB8AC3E}">
        <p14:creationId xmlns:p14="http://schemas.microsoft.com/office/powerpoint/2010/main" val="1494254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3A7A7C-5E74-49E1-9030-BFF22034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A6"/>
                </a:solidFill>
              </a:defRPr>
            </a:pPr>
            <a:r>
              <a:rPr sz="975" b="1">
                <a:solidFill>
                  <a:srgbClr val="16A3A6"/>
                </a:solidFill>
              </a:rPr>
              <a:t>CREATORPULSE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15985-BF96-4AA1-90AA-0328A1C1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当前完成情况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F77DE-12C1-4053-A9CD-EE0475F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项目已经从静态原型推进到可运行 MVP 和 dry-run 数据链路。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F2DC9-A7AB-4877-A813-8D7AC44F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5A209-3D49-48EF-ADAD-3894ECAA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E410C-2EC7-4290-8994-A82E9C8B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6BFE"/>
                </a:solidFill>
              </a:defRPr>
            </a:pPr>
            <a:r>
              <a:rPr sz="3150" b="1">
                <a:solidFill>
                  <a:srgbClr val="246BFE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365D6-4BD9-415B-AF22-6E8A22B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一级页面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0A6B1-88C5-49DE-B1CE-E5EFC6CA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907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9B0CE-0A79-4FE4-AC70-C7D3441B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3FF94-5FB3-4454-9838-5774CA1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38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A3A6"/>
                </a:solidFill>
              </a:defRPr>
            </a:pPr>
            <a:r>
              <a:rPr sz="3150" b="1">
                <a:solidFill>
                  <a:srgbClr val="16A3A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1E4B-46B1-41C8-8402-91C0520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670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平台 mock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DC255-638D-4DD9-9956-57248A4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F1E6A-5495-462C-9246-6E66B5AA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3CDA3-E94F-423D-A983-4D775CD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20+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4343A-4B5F-437A-BFBB-DEEE095B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Insight 建议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900A3-BDBF-41E5-9934-3B05FFA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E8A7-0661-4450-84EB-CAB569C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B3D24-EDA9-46DA-B44E-F375304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384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A66A"/>
                </a:solidFill>
              </a:defRPr>
            </a:pPr>
            <a:r>
              <a:rPr sz="3150" b="1">
                <a:solidFill>
                  <a:srgbClr val="20A66A"/>
                </a:solidFill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9F49C-4E92-4EFD-9B03-6FD1C3F6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API 页面合同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85C4C-562E-43AC-A4A3-E3137BC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243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D4559-C883-4F9C-9A36-F3302180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481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登录、注册、平台绑定、头像上传和个人中心配置已完成。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85C16-017F-418E-8B33-C4675B62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86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8141C-E264-491B-BC85-49C7464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MySQL schema、mock 导入、Repository 工厂已完成。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8C4A4C-068B-4AFD-8B17-6A040A74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48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E5153-13BF-4EEE-A61D-997B45A6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720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Kafka 风格事件生成、消费校验、Spark dry-run 已完成。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B4512-069A-4519-A9E3-39FD3CD9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10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2E8B8-0DFD-4DE7-8DA4-6B707BC5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340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33"/>
                </a:solidFill>
              </a:defRPr>
            </a:pPr>
            <a:r>
              <a:rPr sz="1425">
                <a:solidFill>
                  <a:srgbClr val="172033"/>
                </a:solidFill>
              </a:rPr>
              <a:t>提供真实服务接入前的 preflight 和报告脚本。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9181D-E081-4F9D-B9B2-BC84DA6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A8939-AC1E-41CA-8226-7C494649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96A6"/>
                </a:solidFill>
              </a:defRPr>
            </a:pPr>
            <a:r>
              <a:rPr sz="900">
                <a:solidFill>
                  <a:srgbClr val="8A96A6"/>
                </a:solidFill>
              </a:rPr>
              <a:t>CreatorPulse 项目汇报  /  08</a:t>
            </a:r>
          </a:p>
        </p:txBody>
      </p:sp>
    </p:spTree>
    <p:extLst>
      <p:ext uri="{BB962C8B-B14F-4D97-AF65-F5344CB8AC3E}">
        <p14:creationId xmlns:p14="http://schemas.microsoft.com/office/powerpoint/2010/main" val="1618689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3AB79-970E-476C-ABFB-E428695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下一步计划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49BC6-BFDE-40C6-8D44-8C8D6065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BD5E1"/>
                </a:solidFill>
              </a:defRPr>
            </a:pPr>
            <a:r>
              <a:rPr sz="1650">
                <a:solidFill>
                  <a:srgbClr val="CBD5E1"/>
                </a:solidFill>
              </a:rPr>
              <a:t>按“先验证、再接入、最后联调”的节奏推进真实服务。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595FC-9EA5-454C-87CF-2133EED0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000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97E0-F40B-47AC-B04F-D42B8F3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A6E2A-8761-43E5-A181-D8091517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57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35131-0BD7-4737-8C95-2904A06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90850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补齐 .env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3534-75BA-48D6-B2FB-12B6F4C7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1895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填写 MySQL、Spark JDBC、Kafka 地址和账号配置。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F1756-0AE6-4640-95A6-E30B157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3000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A38AA-DB85-4826-A55B-FDC32A52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72829-14AA-4003-9F3A-22E63713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022B3-C933-46B7-93EC-51DF953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分阶段 preflight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D6567-5055-4C3D-B589-C9D13F4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1895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先 MySQL，再 Spark JDBC，再 Kafka，最后 full-pipeline。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56846-9939-4A65-9185-565F7E52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000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EEA1C-8875-453C-92CE-E1741D43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7B2C5-3A7F-4EEA-835A-A1E2E6F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575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0A3C6-F45C-4DAE-AE38-9FBD48EC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真实链路联调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7A496-17F0-43BC-980F-1A3B3CAA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18954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B7A"/>
                </a:solidFill>
              </a:defRPr>
            </a:pPr>
            <a:r>
              <a:rPr sz="1275">
                <a:solidFill>
                  <a:srgbClr val="5F6B7A"/>
                </a:solidFill>
              </a:rPr>
              <a:t>完成 Kafka -&gt; Spark -&gt; MySQL -&gt; API -&gt; Vue 的演示闭环。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4E44E-2182-4728-959A-38EE8FE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目标：让达人用一个工作台看懂增长，并得到下一次创作建议。</a:t>
            </a:r>
          </a:p>
        </p:txBody>
      </p:sp>
    </p:spTree>
    <p:extLst>
      <p:ext uri="{BB962C8B-B14F-4D97-AF65-F5344CB8AC3E}">
        <p14:creationId xmlns:p14="http://schemas.microsoft.com/office/powerpoint/2010/main" val="381646943"/>
      </p:ext>
    </p:extLst>
  </p:cSld>
</p:sld>
</file>

<file path=ppt/theme/theme1.xml><?xml version="1.0" encoding="utf-8"?>
<a:theme xmlns:a="http://schemas.openxmlformats.org/drawingml/2006/main" name="ChatGPT">
  <a:themeElements>
    <a:clrScheme name="CreatorPulse">
      <a:dk1>
        <a:srgbClr val="000000"/>
      </a:dk1>
      <a:lt1>
        <a:srgbClr val="FFFFFF"/>
      </a:lt1>
      <a:dk2>
        <a:srgbClr val="0B1220"/>
      </a:dk2>
      <a:lt2>
        <a:srgbClr val="EEF4F8"/>
      </a:lt2>
      <a:accent1>
        <a:srgbClr val="246BFE"/>
      </a:accent1>
      <a:accent2>
        <a:srgbClr val="16A3A6"/>
      </a:accent2>
      <a:accent3>
        <a:srgbClr val="F59E0B"/>
      </a:accent3>
      <a:accent4>
        <a:srgbClr val="20A66A"/>
      </a:accent4>
      <a:accent5>
        <a:srgbClr val="E45757"/>
      </a:accent5>
      <a:accent6>
        <a:srgbClr val="7C3AED"/>
      </a:accent6>
      <a:hlink>
        <a:srgbClr val="246BF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reatorPuls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2026-06-22T17:29:22.1780000Z</dcterms:created>
  <dcterms:modified xsi:type="dcterms:W3CDTF">2026-06-22T17:29:22.1780000Z</dcterms:modified>
</coreProperties>
</file>